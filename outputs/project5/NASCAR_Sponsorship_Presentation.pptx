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I'll present our analysis of NASCAR sponsorship visibility. We set out to answer a simple question: which sponsors deliver the best exposure for the investment? Let me walk you through what we found.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bottom line before we dive into details. We analyzed four primary sponsors across all 36 races of the 2024 season. The data tells us three things: NAPA delivers the most raw exposure, Love's delivers the best value per dollar, and FedEx is the only sponsor that ranks near the top on both. Based on that, our primary recommendation is FedEx. Now let me show you how we got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build a fair comparison, we needed a consistent methodology. We gathered data from three sources: race results from public databases, social engagement from Reddit and YouTube, and news coverage from manual tracking. We then built a scoring model that weights these factors by importance for sponsor visibility. Race performance gets 40% because wins and strong finishes put the car on camera; media 30%; social 20%; special events 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show you the findings, let me be transparent about what we could and couldn't measure. Most importantly: sponsorship costs are estimates, not actual contract values. The industry does not publish these figures, so we used industry publications and comparable analysis. There is uncertainty here, roughly 15 to 20 percent. With that caveat stated, let me show you what we found.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key finding is the most surprising. NAPA has the highest total visibility, but it ranks LAST in value per dollar. Love's, last in raw exposure, is FIRST in efficiency at 82 points per million. The implication for NY Racing: the most-seen sponsor is not automatically the smartest spend.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pattern is about balance. FedEx sits at number two on both dimensions. It captures almost all of the top sponsor's exposure at a much better value. No other sponsor is strong on both. This is why FedEx becomes our recommendation: it minimizes the trade-off.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and perhaps most importantly for your confidence: the recommendation is robust. We re-ran the model under four different weighting schemes. The ranking barely moved, at most one position. It is a stable pattern in the data, not an artifact of our specific weights.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should NY Racing do? Our primary recommendation is FedEx. It is the only sponsor top-two on both visibility and efficiency, it had the most wins, and it delivers near-max exposure at a better price than the top-visibility option. For teams with different priorities, Love's offers the best pure value, and NAPA offers the most exposure if budget is no object.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Ultimately, this is a strategic choice, not a math problem. Let me show you the trade-offs. The question for NY Racing is: what matters more, maximum visibility or maximum efficiency per dollar? If it's exposure, NAPA. If it's value, Love's. If it's balance, FedEx.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open for questions, let me suggest next steps. First, validate the cost estimates with direct conversations, since that is our biggest source of uncertainty. Second, consider analyzing additional seasons to see if the patterns hold. Third, assess brand fit and activation value that this analysis does not capture. I'm happy to answer questions. What would you like to discuss?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1828800"/>
          </a:xfrm>
          <a:prstGeom prst="rect">
            <a:avLst/>
          </a:prstGeom>
          <a:noFill/>
        </p:spPr>
        <p:txBody>
          <a:bodyPr wrap="square" anchor="t" lIns="0" rIns="0" tIns="0" bIns="0">
            <a:spAutoFit/>
          </a:bodyPr>
          <a:lstStyle/>
          <a:p>
            <a:pPr algn="l">
              <a:spcAft>
                <a:spcPts val="400"/>
              </a:spcAft>
            </a:pPr>
            <a:r>
              <a:rPr sz="4600" b="1" i="0">
                <a:solidFill>
                  <a:srgbClr val="FFFFFF"/>
                </a:solidFill>
                <a:latin typeface="Cambria"/>
              </a:rPr>
              <a:t>NASCAR Sponsorship ROI Analysis</a:t>
            </a:r>
          </a:p>
          <a:p>
            <a:pPr algn="l">
              <a:spcAft>
                <a:spcPts val="400"/>
              </a:spcAft>
            </a:pPr>
            <a:r>
              <a:rPr sz="2400" b="1" i="0">
                <a:solidFill>
                  <a:srgbClr val="F39C12"/>
                </a:solidFill>
                <a:latin typeface="Calibri"/>
              </a:rPr>
              <a:t>Strategic Recommendations for NY Racing</a:t>
            </a:r>
          </a:p>
        </p:txBody>
      </p:sp>
      <p:sp>
        <p:nvSpPr>
          <p:cNvPr id="4" name="TextBox 3"/>
          <p:cNvSpPr txBox="1"/>
          <p:nvPr/>
        </p:nvSpPr>
        <p:spPr>
          <a:xfrm>
            <a:off x="822960" y="3977639"/>
            <a:ext cx="10515600" cy="731520"/>
          </a:xfrm>
          <a:prstGeom prst="rect">
            <a:avLst/>
          </a:prstGeom>
          <a:noFill/>
        </p:spPr>
        <p:txBody>
          <a:bodyPr wrap="square" anchor="t" lIns="0" rIns="0" tIns="0" bIns="0">
            <a:spAutoFit/>
          </a:bodyPr>
          <a:lstStyle/>
          <a:p>
            <a:pPr algn="l">
              <a:spcAft>
                <a:spcPts val="400"/>
              </a:spcAft>
            </a:pPr>
            <a:r>
              <a:rPr sz="1600" b="0" i="0">
                <a:solidFill>
                  <a:srgbClr val="CADCFC"/>
                </a:solidFill>
                <a:latin typeface="Calibri"/>
              </a:rPr>
              <a:t>Aylin Yasgul   |   2024 Season Analysis</a:t>
            </a:r>
          </a:p>
        </p:txBody>
      </p:sp>
      <p:sp>
        <p:nvSpPr>
          <p:cNvPr id="5" name="Rounded Rectangle 4"/>
          <p:cNvSpPr/>
          <p:nvPr/>
        </p:nvSpPr>
        <p:spPr>
          <a:xfrm>
            <a:off x="822960" y="5074920"/>
            <a:ext cx="10515600" cy="868680"/>
          </a:xfrm>
          <a:prstGeom prst="roundRect">
            <a:avLst>
              <a:gd name="adj" fmla="val 9000"/>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5230368"/>
            <a:ext cx="9875520" cy="594360"/>
          </a:xfrm>
          <a:prstGeom prst="rect">
            <a:avLst/>
          </a:prstGeom>
          <a:noFill/>
        </p:spPr>
        <p:txBody>
          <a:bodyPr wrap="square" anchor="ctr" lIns="0" rIns="0" tIns="0" bIns="0">
            <a:spAutoFit/>
          </a:bodyPr>
          <a:lstStyle/>
          <a:p>
            <a:pPr algn="l">
              <a:spcAft>
                <a:spcPts val="400"/>
              </a:spcAft>
            </a:pPr>
            <a:r>
              <a:rPr sz="1800" b="0" i="1">
                <a:solidFill>
                  <a:srgbClr val="FFFFFF"/>
                </a:solidFill>
                <a:latin typeface="Calibri"/>
              </a:rPr>
              <a:t>"Which sponsors deliver the best visibility per dollar invested?"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spcAft>
                <a:spcPts val="400"/>
              </a:spcAft>
            </a:pPr>
            <a:r>
              <a:rPr sz="1200" b="1" i="0">
                <a:solidFill>
                  <a:srgbClr val="F39C12"/>
                </a:solidFill>
                <a:latin typeface="Calibri"/>
              </a:rPr>
              <a:t>EXECUTIVE SUMMARY</a:t>
            </a:r>
          </a:p>
        </p:txBody>
      </p:sp>
      <p:sp>
        <p:nvSpPr>
          <p:cNvPr id="4" name="TextBox 3"/>
          <p:cNvSpPr txBox="1"/>
          <p:nvPr/>
        </p:nvSpPr>
        <p:spPr>
          <a:xfrm>
            <a:off x="548640" y="777240"/>
            <a:ext cx="11064240" cy="914400"/>
          </a:xfrm>
          <a:prstGeom prst="rect">
            <a:avLst/>
          </a:prstGeom>
          <a:noFill/>
        </p:spPr>
        <p:txBody>
          <a:bodyPr wrap="square" anchor="t" lIns="0" rIns="0" tIns="0" bIns="0">
            <a:spAutoFit/>
          </a:bodyPr>
          <a:lstStyle/>
          <a:p>
            <a:pPr algn="l">
              <a:spcAft>
                <a:spcPts val="400"/>
              </a:spcAft>
            </a:pPr>
            <a:r>
              <a:rPr sz="3200" b="1" i="0">
                <a:solidFill>
                  <a:srgbClr val="2C3E50"/>
                </a:solidFill>
                <a:latin typeface="Cambria"/>
              </a:rPr>
              <a:t>The Bottom Line</a:t>
            </a:r>
          </a:p>
        </p:txBody>
      </p:sp>
      <p:sp>
        <p:nvSpPr>
          <p:cNvPr id="5" name="Oval 4"/>
          <p:cNvSpPr/>
          <p:nvPr/>
        </p:nvSpPr>
        <p:spPr>
          <a:xfrm>
            <a:off x="685800" y="2221992"/>
            <a:ext cx="256032" cy="256032"/>
          </a:xfrm>
          <a:prstGeom prst="ellipse">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148840"/>
            <a:ext cx="6766560" cy="822960"/>
          </a:xfrm>
          <a:prstGeom prst="rect">
            <a:avLst/>
          </a:prstGeom>
          <a:noFill/>
        </p:spPr>
        <p:txBody>
          <a:bodyPr wrap="square" anchor="t" lIns="0" rIns="0" tIns="0" bIns="0">
            <a:spAutoFit/>
          </a:bodyPr>
          <a:lstStyle/>
          <a:p>
            <a:pPr algn="l">
              <a:spcAft>
                <a:spcPts val="100"/>
              </a:spcAft>
            </a:pPr>
            <a:r>
              <a:rPr sz="1800" b="1" i="0">
                <a:solidFill>
                  <a:srgbClr val="2C3E50"/>
                </a:solidFill>
                <a:latin typeface="Calibri"/>
              </a:rPr>
              <a:t>NAPA Auto Parts</a:t>
            </a:r>
          </a:p>
          <a:p>
            <a:pPr algn="l">
              <a:spcAft>
                <a:spcPts val="400"/>
              </a:spcAft>
            </a:pPr>
            <a:r>
              <a:rPr sz="1500" b="0" i="0">
                <a:solidFill>
                  <a:srgbClr val="5A6B73"/>
                </a:solidFill>
                <a:latin typeface="Calibri"/>
              </a:rPr>
              <a:t>Highest total visibility (ranked #1 of 4 sponsors)</a:t>
            </a:r>
          </a:p>
        </p:txBody>
      </p:sp>
      <p:sp>
        <p:nvSpPr>
          <p:cNvPr id="7" name="Oval 6"/>
          <p:cNvSpPr/>
          <p:nvPr/>
        </p:nvSpPr>
        <p:spPr>
          <a:xfrm>
            <a:off x="685800" y="3182112"/>
            <a:ext cx="256032" cy="256032"/>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108960"/>
            <a:ext cx="6766560" cy="822960"/>
          </a:xfrm>
          <a:prstGeom prst="rect">
            <a:avLst/>
          </a:prstGeom>
          <a:noFill/>
        </p:spPr>
        <p:txBody>
          <a:bodyPr wrap="square" anchor="t" lIns="0" rIns="0" tIns="0" bIns="0">
            <a:spAutoFit/>
          </a:bodyPr>
          <a:lstStyle/>
          <a:p>
            <a:pPr algn="l">
              <a:spcAft>
                <a:spcPts val="100"/>
              </a:spcAft>
            </a:pPr>
            <a:r>
              <a:rPr sz="1800" b="1" i="0">
                <a:solidFill>
                  <a:srgbClr val="2C3E50"/>
                </a:solidFill>
                <a:latin typeface="Calibri"/>
              </a:rPr>
              <a:t>Love's Travel Stops</a:t>
            </a:r>
          </a:p>
          <a:p>
            <a:pPr algn="l">
              <a:spcAft>
                <a:spcPts val="400"/>
              </a:spcAft>
            </a:pPr>
            <a:r>
              <a:rPr sz="1500" b="0" i="0">
                <a:solidFill>
                  <a:srgbClr val="5A6B73"/>
                </a:solidFill>
                <a:latin typeface="Calibri"/>
              </a:rPr>
              <a:t>Best efficiency: 82 visibility points per $M</a:t>
            </a:r>
          </a:p>
        </p:txBody>
      </p:sp>
      <p:sp>
        <p:nvSpPr>
          <p:cNvPr id="9" name="Oval 8"/>
          <p:cNvSpPr/>
          <p:nvPr/>
        </p:nvSpPr>
        <p:spPr>
          <a:xfrm>
            <a:off x="685800" y="4142232"/>
            <a:ext cx="256032" cy="256032"/>
          </a:xfrm>
          <a:prstGeom prst="ellipse">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4069080"/>
            <a:ext cx="6766560" cy="822960"/>
          </a:xfrm>
          <a:prstGeom prst="rect">
            <a:avLst/>
          </a:prstGeom>
          <a:noFill/>
        </p:spPr>
        <p:txBody>
          <a:bodyPr wrap="square" anchor="t" lIns="0" rIns="0" tIns="0" bIns="0">
            <a:spAutoFit/>
          </a:bodyPr>
          <a:lstStyle/>
          <a:p>
            <a:pPr algn="l">
              <a:spcAft>
                <a:spcPts val="100"/>
              </a:spcAft>
            </a:pPr>
            <a:r>
              <a:rPr sz="1800" b="1" i="0">
                <a:solidFill>
                  <a:srgbClr val="2C3E50"/>
                </a:solidFill>
                <a:latin typeface="Calibri"/>
              </a:rPr>
              <a:t>FedEx</a:t>
            </a:r>
          </a:p>
          <a:p>
            <a:pPr algn="l">
              <a:spcAft>
                <a:spcPts val="400"/>
              </a:spcAft>
            </a:pPr>
            <a:r>
              <a:rPr sz="1500" b="0" i="0">
                <a:solidFill>
                  <a:srgbClr val="5A6B73"/>
                </a:solidFill>
                <a:latin typeface="Calibri"/>
              </a:rPr>
              <a:t>The only sponsor ranked top-2 on BOTH dimensions</a:t>
            </a:r>
          </a:p>
        </p:txBody>
      </p:sp>
      <p:sp>
        <p:nvSpPr>
          <p:cNvPr id="11" name="Rounded Rectangle 10"/>
          <p:cNvSpPr/>
          <p:nvPr/>
        </p:nvSpPr>
        <p:spPr>
          <a:xfrm>
            <a:off x="8275320" y="2103120"/>
            <a:ext cx="3337560" cy="2880360"/>
          </a:xfrm>
          <a:prstGeom prst="roundRect">
            <a:avLst>
              <a:gd name="adj" fmla="val 9000"/>
            </a:avLst>
          </a:prstGeom>
          <a:solidFill>
            <a:srgbClr val="FDF0DC"/>
          </a:solidFill>
          <a:ln w="15875">
            <a:solidFill>
              <a:srgbClr val="F39C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2377440"/>
            <a:ext cx="2788920" cy="2377440"/>
          </a:xfrm>
          <a:prstGeom prst="rect">
            <a:avLst/>
          </a:prstGeom>
          <a:noFill/>
        </p:spPr>
        <p:txBody>
          <a:bodyPr wrap="square" anchor="t" lIns="0" rIns="0" tIns="0" bIns="0">
            <a:spAutoFit/>
          </a:bodyPr>
          <a:lstStyle/>
          <a:p>
            <a:pPr algn="l">
              <a:spcAft>
                <a:spcPts val="600"/>
              </a:spcAft>
            </a:pPr>
            <a:r>
              <a:rPr sz="1200" b="1" i="0">
                <a:solidFill>
                  <a:srgbClr val="F39C12"/>
                </a:solidFill>
                <a:latin typeface="Calibri"/>
              </a:rPr>
              <a:t>PRIMARY RECOMMENDATION</a:t>
            </a:r>
          </a:p>
          <a:p>
            <a:pPr algn="l">
              <a:spcAft>
                <a:spcPts val="600"/>
              </a:spcAft>
            </a:pPr>
            <a:r>
              <a:rPr sz="4000" b="1" i="0">
                <a:solidFill>
                  <a:srgbClr val="2C3E50"/>
                </a:solidFill>
                <a:latin typeface="Cambria"/>
              </a:rPr>
              <a:t>FedEx</a:t>
            </a:r>
          </a:p>
          <a:p>
            <a:pPr algn="l">
              <a:spcAft>
                <a:spcPts val="400"/>
              </a:spcAft>
            </a:pPr>
            <a:r>
              <a:rPr sz="1400" b="0" i="0">
                <a:solidFill>
                  <a:srgbClr val="222A30"/>
                </a:solidFill>
                <a:latin typeface="Calibri"/>
              </a:rPr>
              <a:t>The balanced best bet: near-maximum exposure at a materially better value.</a:t>
            </a:r>
          </a:p>
        </p:txBody>
      </p:sp>
      <p:sp>
        <p:nvSpPr>
          <p:cNvPr id="13" name="TextBox 12"/>
          <p:cNvSpPr txBox="1"/>
          <p:nvPr/>
        </p:nvSpPr>
        <p:spPr>
          <a:xfrm>
            <a:off x="502920" y="6419088"/>
            <a:ext cx="7315200" cy="320040"/>
          </a:xfrm>
          <a:prstGeom prst="rect">
            <a:avLst/>
          </a:prstGeom>
          <a:noFill/>
        </p:spPr>
        <p:txBody>
          <a:bodyPr wrap="square" anchor="t" lIns="0" rIns="0" tIns="0" bIns="0">
            <a:spAutoFit/>
          </a:bodyPr>
          <a:lstStyle/>
          <a:p>
            <a:pPr algn="l">
              <a:spcAft>
                <a:spcPts val="400"/>
              </a:spcAft>
            </a:pPr>
            <a:r>
              <a:rPr sz="900" b="0" i="0">
                <a:solidFill>
                  <a:srgbClr val="95A5A6"/>
                </a:solidFill>
                <a:latin typeface="Calibri"/>
              </a:rPr>
              <a:t>NASCAR Sponsorship ROI Analysis  |  NY Racing</a:t>
            </a:r>
          </a:p>
        </p:txBody>
      </p:sp>
      <p:sp>
        <p:nvSpPr>
          <p:cNvPr id="14" name="TextBox 13"/>
          <p:cNvSpPr txBox="1"/>
          <p:nvPr/>
        </p:nvSpPr>
        <p:spPr>
          <a:xfrm>
            <a:off x="10972800" y="6419088"/>
            <a:ext cx="822960" cy="320040"/>
          </a:xfrm>
          <a:prstGeom prst="rect">
            <a:avLst/>
          </a:prstGeom>
          <a:noFill/>
        </p:spPr>
        <p:txBody>
          <a:bodyPr wrap="square" anchor="t" lIns="0" rIns="0" tIns="0" bIns="0">
            <a:spAutoFit/>
          </a:bodyPr>
          <a:lstStyle/>
          <a:p>
            <a:pPr algn="r">
              <a:spcAft>
                <a:spcPts val="400"/>
              </a:spcAft>
            </a:pPr>
            <a:r>
              <a:rPr sz="900" b="0" i="0">
                <a:solidFill>
                  <a:srgbClr val="95A5A6"/>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spcAft>
                <a:spcPts val="400"/>
              </a:spcAft>
            </a:pPr>
            <a:r>
              <a:rPr sz="1200" b="1" i="0">
                <a:solidFill>
                  <a:srgbClr val="F39C12"/>
                </a:solidFill>
                <a:latin typeface="Calibri"/>
              </a:rPr>
              <a:t>PROJECT APPROACH</a:t>
            </a:r>
          </a:p>
        </p:txBody>
      </p:sp>
      <p:sp>
        <p:nvSpPr>
          <p:cNvPr id="4" name="TextBox 3"/>
          <p:cNvSpPr txBox="1"/>
          <p:nvPr/>
        </p:nvSpPr>
        <p:spPr>
          <a:xfrm>
            <a:off x="548640" y="777240"/>
            <a:ext cx="11064240" cy="914400"/>
          </a:xfrm>
          <a:prstGeom prst="rect">
            <a:avLst/>
          </a:prstGeom>
          <a:noFill/>
        </p:spPr>
        <p:txBody>
          <a:bodyPr wrap="square" anchor="t" lIns="0" rIns="0" tIns="0" bIns="0">
            <a:spAutoFit/>
          </a:bodyPr>
          <a:lstStyle/>
          <a:p>
            <a:pPr algn="l">
              <a:spcAft>
                <a:spcPts val="400"/>
              </a:spcAft>
            </a:pPr>
            <a:r>
              <a:rPr sz="3200" b="1" i="0">
                <a:solidFill>
                  <a:srgbClr val="2C3E50"/>
                </a:solidFill>
                <a:latin typeface="Cambria"/>
              </a:rPr>
              <a:t>How We Measured Sponsorship Visibility</a:t>
            </a:r>
          </a:p>
        </p:txBody>
      </p:sp>
      <p:sp>
        <p:nvSpPr>
          <p:cNvPr id="5" name="Rounded Rectangle 4"/>
          <p:cNvSpPr/>
          <p:nvPr/>
        </p:nvSpPr>
        <p:spPr>
          <a:xfrm>
            <a:off x="685800" y="2286000"/>
            <a:ext cx="3063240" cy="1417320"/>
          </a:xfrm>
          <a:prstGeom prst="roundRect">
            <a:avLst>
              <a:gd name="adj" fmla="val 9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487168"/>
            <a:ext cx="2606040" cy="1051560"/>
          </a:xfrm>
          <a:prstGeom prst="rect">
            <a:avLst/>
          </a:prstGeom>
          <a:noFill/>
        </p:spPr>
        <p:txBody>
          <a:bodyPr wrap="square" anchor="ctr" lIns="0" rIns="0" tIns="0" bIns="0">
            <a:spAutoFit/>
          </a:bodyPr>
          <a:lstStyle/>
          <a:p>
            <a:pPr algn="ctr">
              <a:spcAft>
                <a:spcPts val="300"/>
              </a:spcAft>
            </a:pPr>
            <a:r>
              <a:rPr sz="1800" b="1" i="0">
                <a:solidFill>
                  <a:srgbClr val="2C3E50"/>
                </a:solidFill>
                <a:latin typeface="Calibri"/>
              </a:rPr>
              <a:t>Data Sources</a:t>
            </a:r>
          </a:p>
          <a:p>
            <a:pPr algn="ctr">
              <a:spcAft>
                <a:spcPts val="0"/>
              </a:spcAft>
            </a:pPr>
            <a:r>
              <a:rPr sz="1300" b="0" i="0">
                <a:solidFill>
                  <a:srgbClr val="5A6B73"/>
                </a:solidFill>
                <a:latin typeface="Calibri"/>
              </a:rPr>
              <a:t>Race results,</a:t>
            </a:r>
          </a:p>
          <a:p>
            <a:pPr algn="ctr">
              <a:spcAft>
                <a:spcPts val="0"/>
              </a:spcAft>
            </a:pPr>
            <a:r>
              <a:rPr sz="1300" b="0" i="0">
                <a:solidFill>
                  <a:srgbClr val="5A6B73"/>
                </a:solidFill>
                <a:latin typeface="Calibri"/>
              </a:rPr>
              <a:t>social, news</a:t>
            </a:r>
          </a:p>
        </p:txBody>
      </p:sp>
      <p:sp>
        <p:nvSpPr>
          <p:cNvPr id="7" name="Right Arrow 6"/>
          <p:cNvSpPr/>
          <p:nvPr/>
        </p:nvSpPr>
        <p:spPr>
          <a:xfrm>
            <a:off x="3794760" y="2788920"/>
            <a:ext cx="502920" cy="411480"/>
          </a:xfrm>
          <a:prstGeom prst="rightArrow">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3063240" cy="1417320"/>
          </a:xfrm>
          <a:prstGeom prst="roundRect">
            <a:avLst>
              <a:gd name="adj" fmla="val 9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487168"/>
            <a:ext cx="2606040" cy="1051560"/>
          </a:xfrm>
          <a:prstGeom prst="rect">
            <a:avLst/>
          </a:prstGeom>
          <a:noFill/>
        </p:spPr>
        <p:txBody>
          <a:bodyPr wrap="square" anchor="ctr" lIns="0" rIns="0" tIns="0" bIns="0">
            <a:spAutoFit/>
          </a:bodyPr>
          <a:lstStyle/>
          <a:p>
            <a:pPr algn="ctr">
              <a:spcAft>
                <a:spcPts val="300"/>
              </a:spcAft>
            </a:pPr>
            <a:r>
              <a:rPr sz="1800" b="1" i="0">
                <a:solidFill>
                  <a:srgbClr val="2C3E50"/>
                </a:solidFill>
                <a:latin typeface="Calibri"/>
              </a:rPr>
              <a:t>Scoring Model</a:t>
            </a:r>
          </a:p>
          <a:p>
            <a:pPr algn="ctr">
              <a:spcAft>
                <a:spcPts val="0"/>
              </a:spcAft>
            </a:pPr>
            <a:r>
              <a:rPr sz="1300" b="0" i="0">
                <a:solidFill>
                  <a:srgbClr val="5A6B73"/>
                </a:solidFill>
                <a:latin typeface="Calibri"/>
              </a:rPr>
              <a:t>Weighted 0-100</a:t>
            </a:r>
          </a:p>
          <a:p>
            <a:pPr algn="ctr">
              <a:spcAft>
                <a:spcPts val="0"/>
              </a:spcAft>
            </a:pPr>
            <a:r>
              <a:rPr sz="1300" b="0" i="0">
                <a:solidFill>
                  <a:srgbClr val="5A6B73"/>
                </a:solidFill>
                <a:latin typeface="Calibri"/>
              </a:rPr>
              <a:t>composite</a:t>
            </a:r>
          </a:p>
        </p:txBody>
      </p:sp>
      <p:sp>
        <p:nvSpPr>
          <p:cNvPr id="10" name="Right Arrow 9"/>
          <p:cNvSpPr/>
          <p:nvPr/>
        </p:nvSpPr>
        <p:spPr>
          <a:xfrm>
            <a:off x="7406640" y="2788920"/>
            <a:ext cx="502920" cy="411480"/>
          </a:xfrm>
          <a:prstGeom prst="rightArrow">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909560" y="2286000"/>
            <a:ext cx="3063240" cy="1417320"/>
          </a:xfrm>
          <a:prstGeom prst="roundRect">
            <a:avLst>
              <a:gd name="adj" fmla="val 9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487168"/>
            <a:ext cx="2606040" cy="1051560"/>
          </a:xfrm>
          <a:prstGeom prst="rect">
            <a:avLst/>
          </a:prstGeom>
          <a:noFill/>
        </p:spPr>
        <p:txBody>
          <a:bodyPr wrap="square" anchor="ctr" lIns="0" rIns="0" tIns="0" bIns="0">
            <a:spAutoFit/>
          </a:bodyPr>
          <a:lstStyle/>
          <a:p>
            <a:pPr algn="ctr">
              <a:spcAft>
                <a:spcPts val="300"/>
              </a:spcAft>
            </a:pPr>
            <a:r>
              <a:rPr sz="1800" b="1" i="0">
                <a:solidFill>
                  <a:srgbClr val="2C3E50"/>
                </a:solidFill>
                <a:latin typeface="Calibri"/>
              </a:rPr>
              <a:t>Rankings</a:t>
            </a:r>
          </a:p>
          <a:p>
            <a:pPr algn="ctr">
              <a:spcAft>
                <a:spcPts val="0"/>
              </a:spcAft>
            </a:pPr>
            <a:r>
              <a:rPr sz="1300" b="0" i="0">
                <a:solidFill>
                  <a:srgbClr val="5A6B73"/>
                </a:solidFill>
                <a:latin typeface="Calibri"/>
              </a:rPr>
              <a:t>Visibility and</a:t>
            </a:r>
          </a:p>
          <a:p>
            <a:pPr algn="ctr">
              <a:spcAft>
                <a:spcPts val="0"/>
              </a:spcAft>
            </a:pPr>
            <a:r>
              <a:rPr sz="1300" b="0" i="0">
                <a:solidFill>
                  <a:srgbClr val="5A6B73"/>
                </a:solidFill>
                <a:latin typeface="Calibri"/>
              </a:rPr>
              <a:t>efficiency</a:t>
            </a:r>
          </a:p>
        </p:txBody>
      </p:sp>
      <p:sp>
        <p:nvSpPr>
          <p:cNvPr id="13" name="TextBox 12"/>
          <p:cNvSpPr txBox="1"/>
          <p:nvPr/>
        </p:nvSpPr>
        <p:spPr>
          <a:xfrm>
            <a:off x="685800" y="4160520"/>
            <a:ext cx="10972800" cy="457200"/>
          </a:xfrm>
          <a:prstGeom prst="rect">
            <a:avLst/>
          </a:prstGeom>
          <a:noFill/>
        </p:spPr>
        <p:txBody>
          <a:bodyPr wrap="square" anchor="t" lIns="0" rIns="0" tIns="0" bIns="0">
            <a:spAutoFit/>
          </a:bodyPr>
          <a:lstStyle/>
          <a:p>
            <a:pPr algn="l">
              <a:spcAft>
                <a:spcPts val="400"/>
              </a:spcAft>
            </a:pPr>
            <a:r>
              <a:rPr sz="1500" b="1" i="0">
                <a:solidFill>
                  <a:srgbClr val="222A30"/>
                </a:solidFill>
                <a:latin typeface="Calibri"/>
              </a:rPr>
              <a:t>The composite weights four categories:</a:t>
            </a:r>
          </a:p>
        </p:txBody>
      </p:sp>
      <p:sp>
        <p:nvSpPr>
          <p:cNvPr id="14" name="Rounded Rectangle 13"/>
          <p:cNvSpPr/>
          <p:nvPr/>
        </p:nvSpPr>
        <p:spPr>
          <a:xfrm>
            <a:off x="685800" y="4709160"/>
            <a:ext cx="2651760" cy="1143000"/>
          </a:xfrm>
          <a:prstGeom prst="roundRect">
            <a:avLst>
              <a:gd name="adj" fmla="val 9000"/>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892040"/>
            <a:ext cx="2286000" cy="822960"/>
          </a:xfrm>
          <a:prstGeom prst="rect">
            <a:avLst/>
          </a:prstGeom>
          <a:noFill/>
        </p:spPr>
        <p:txBody>
          <a:bodyPr wrap="square" anchor="ctr" lIns="0" rIns="0" tIns="0" bIns="0">
            <a:spAutoFit/>
          </a:bodyPr>
          <a:lstStyle/>
          <a:p>
            <a:pPr algn="l">
              <a:spcAft>
                <a:spcPts val="100"/>
              </a:spcAft>
            </a:pPr>
            <a:r>
              <a:rPr sz="3000" b="1" i="0">
                <a:solidFill>
                  <a:srgbClr val="FFFFFF"/>
                </a:solidFill>
                <a:latin typeface="Cambria"/>
              </a:rPr>
              <a:t>40%</a:t>
            </a:r>
          </a:p>
          <a:p>
            <a:pPr algn="l">
              <a:spcAft>
                <a:spcPts val="400"/>
              </a:spcAft>
            </a:pPr>
            <a:r>
              <a:rPr sz="1200" b="0" i="0">
                <a:solidFill>
                  <a:srgbClr val="FFFFFF"/>
                </a:solidFill>
                <a:latin typeface="Calibri"/>
              </a:rPr>
              <a:t>Race Performance</a:t>
            </a:r>
          </a:p>
        </p:txBody>
      </p:sp>
      <p:sp>
        <p:nvSpPr>
          <p:cNvPr id="16" name="Rounded Rectangle 15"/>
          <p:cNvSpPr/>
          <p:nvPr/>
        </p:nvSpPr>
        <p:spPr>
          <a:xfrm>
            <a:off x="3474720" y="4709160"/>
            <a:ext cx="2651760" cy="1143000"/>
          </a:xfrm>
          <a:prstGeom prst="roundRect">
            <a:avLst>
              <a:gd name="adj" fmla="val 9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4892040"/>
            <a:ext cx="2286000" cy="822960"/>
          </a:xfrm>
          <a:prstGeom prst="rect">
            <a:avLst/>
          </a:prstGeom>
          <a:noFill/>
        </p:spPr>
        <p:txBody>
          <a:bodyPr wrap="square" anchor="ctr" lIns="0" rIns="0" tIns="0" bIns="0">
            <a:spAutoFit/>
          </a:bodyPr>
          <a:lstStyle/>
          <a:p>
            <a:pPr algn="l">
              <a:spcAft>
                <a:spcPts val="100"/>
              </a:spcAft>
            </a:pPr>
            <a:r>
              <a:rPr sz="3000" b="1" i="0">
                <a:solidFill>
                  <a:srgbClr val="FFFFFF"/>
                </a:solidFill>
                <a:latin typeface="Cambria"/>
              </a:rPr>
              <a:t>30%</a:t>
            </a:r>
          </a:p>
          <a:p>
            <a:pPr algn="l">
              <a:spcAft>
                <a:spcPts val="400"/>
              </a:spcAft>
            </a:pPr>
            <a:r>
              <a:rPr sz="1200" b="0" i="0">
                <a:solidFill>
                  <a:srgbClr val="FFFFFF"/>
                </a:solidFill>
                <a:latin typeface="Calibri"/>
              </a:rPr>
              <a:t>Media Coverage</a:t>
            </a:r>
          </a:p>
        </p:txBody>
      </p:sp>
      <p:sp>
        <p:nvSpPr>
          <p:cNvPr id="18" name="Rounded Rectangle 17"/>
          <p:cNvSpPr/>
          <p:nvPr/>
        </p:nvSpPr>
        <p:spPr>
          <a:xfrm>
            <a:off x="6263640" y="4709160"/>
            <a:ext cx="2651760" cy="1143000"/>
          </a:xfrm>
          <a:prstGeom prst="roundRect">
            <a:avLst>
              <a:gd name="adj" fmla="val 9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892040"/>
            <a:ext cx="2286000" cy="822960"/>
          </a:xfrm>
          <a:prstGeom prst="rect">
            <a:avLst/>
          </a:prstGeom>
          <a:noFill/>
        </p:spPr>
        <p:txBody>
          <a:bodyPr wrap="square" anchor="ctr" lIns="0" rIns="0" tIns="0" bIns="0">
            <a:spAutoFit/>
          </a:bodyPr>
          <a:lstStyle/>
          <a:p>
            <a:pPr algn="l">
              <a:spcAft>
                <a:spcPts val="100"/>
              </a:spcAft>
            </a:pPr>
            <a:r>
              <a:rPr sz="3000" b="1" i="0">
                <a:solidFill>
                  <a:srgbClr val="FFFFFF"/>
                </a:solidFill>
                <a:latin typeface="Cambria"/>
              </a:rPr>
              <a:t>20%</a:t>
            </a:r>
          </a:p>
          <a:p>
            <a:pPr algn="l">
              <a:spcAft>
                <a:spcPts val="400"/>
              </a:spcAft>
            </a:pPr>
            <a:r>
              <a:rPr sz="1200" b="0" i="0">
                <a:solidFill>
                  <a:srgbClr val="FFFFFF"/>
                </a:solidFill>
                <a:latin typeface="Calibri"/>
              </a:rPr>
              <a:t>Social Engagement</a:t>
            </a:r>
          </a:p>
        </p:txBody>
      </p:sp>
      <p:sp>
        <p:nvSpPr>
          <p:cNvPr id="20" name="Rounded Rectangle 19"/>
          <p:cNvSpPr/>
          <p:nvPr/>
        </p:nvSpPr>
        <p:spPr>
          <a:xfrm>
            <a:off x="9052559" y="4709160"/>
            <a:ext cx="2651760" cy="1143000"/>
          </a:xfrm>
          <a:prstGeom prst="roundRect">
            <a:avLst>
              <a:gd name="adj" fmla="val 9000"/>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39" y="4892040"/>
            <a:ext cx="2286000" cy="822960"/>
          </a:xfrm>
          <a:prstGeom prst="rect">
            <a:avLst/>
          </a:prstGeom>
          <a:noFill/>
        </p:spPr>
        <p:txBody>
          <a:bodyPr wrap="square" anchor="ctr" lIns="0" rIns="0" tIns="0" bIns="0">
            <a:spAutoFit/>
          </a:bodyPr>
          <a:lstStyle/>
          <a:p>
            <a:pPr algn="l">
              <a:spcAft>
                <a:spcPts val="100"/>
              </a:spcAft>
            </a:pPr>
            <a:r>
              <a:rPr sz="3000" b="1" i="0">
                <a:solidFill>
                  <a:srgbClr val="FFFFFF"/>
                </a:solidFill>
                <a:latin typeface="Cambria"/>
              </a:rPr>
              <a:t>10%</a:t>
            </a:r>
          </a:p>
          <a:p>
            <a:pPr algn="l">
              <a:spcAft>
                <a:spcPts val="400"/>
              </a:spcAft>
            </a:pPr>
            <a:r>
              <a:rPr sz="1200" b="0" i="0">
                <a:solidFill>
                  <a:srgbClr val="FFFFFF"/>
                </a:solidFill>
                <a:latin typeface="Calibri"/>
              </a:rPr>
              <a:t>Special Events</a:t>
            </a:r>
          </a:p>
        </p:txBody>
      </p:sp>
      <p:sp>
        <p:nvSpPr>
          <p:cNvPr id="22" name="TextBox 21"/>
          <p:cNvSpPr txBox="1"/>
          <p:nvPr/>
        </p:nvSpPr>
        <p:spPr>
          <a:xfrm>
            <a:off x="502920" y="6419088"/>
            <a:ext cx="7315200" cy="320040"/>
          </a:xfrm>
          <a:prstGeom prst="rect">
            <a:avLst/>
          </a:prstGeom>
          <a:noFill/>
        </p:spPr>
        <p:txBody>
          <a:bodyPr wrap="square" anchor="t" lIns="0" rIns="0" tIns="0" bIns="0">
            <a:spAutoFit/>
          </a:bodyPr>
          <a:lstStyle/>
          <a:p>
            <a:pPr algn="l">
              <a:spcAft>
                <a:spcPts val="400"/>
              </a:spcAft>
            </a:pPr>
            <a:r>
              <a:rPr sz="900" b="0" i="0">
                <a:solidFill>
                  <a:srgbClr val="95A5A6"/>
                </a:solidFill>
                <a:latin typeface="Calibri"/>
              </a:rPr>
              <a:t>NASCAR Sponsorship ROI Analysis  |  NY Racing</a:t>
            </a:r>
          </a:p>
        </p:txBody>
      </p:sp>
      <p:sp>
        <p:nvSpPr>
          <p:cNvPr id="23" name="TextBox 22"/>
          <p:cNvSpPr txBox="1"/>
          <p:nvPr/>
        </p:nvSpPr>
        <p:spPr>
          <a:xfrm>
            <a:off x="10972800" y="6419088"/>
            <a:ext cx="822960" cy="320040"/>
          </a:xfrm>
          <a:prstGeom prst="rect">
            <a:avLst/>
          </a:prstGeom>
          <a:noFill/>
        </p:spPr>
        <p:txBody>
          <a:bodyPr wrap="square" anchor="t" lIns="0" rIns="0" tIns="0" bIns="0">
            <a:spAutoFit/>
          </a:bodyPr>
          <a:lstStyle/>
          <a:p>
            <a:pPr algn="r">
              <a:spcAft>
                <a:spcPts val="400"/>
              </a:spcAft>
            </a:pPr>
            <a:r>
              <a:rPr sz="900" b="0" i="0">
                <a:solidFill>
                  <a:srgbClr val="95A5A6"/>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spcAft>
                <a:spcPts val="400"/>
              </a:spcAft>
            </a:pPr>
            <a:r>
              <a:rPr sz="1200" b="1" i="0">
                <a:solidFill>
                  <a:srgbClr val="F39C12"/>
                </a:solidFill>
                <a:latin typeface="Calibri"/>
              </a:rPr>
              <a:t>TRANSPARENCY</a:t>
            </a:r>
          </a:p>
        </p:txBody>
      </p:sp>
      <p:sp>
        <p:nvSpPr>
          <p:cNvPr id="4" name="TextBox 3"/>
          <p:cNvSpPr txBox="1"/>
          <p:nvPr/>
        </p:nvSpPr>
        <p:spPr>
          <a:xfrm>
            <a:off x="548640" y="777240"/>
            <a:ext cx="11064240" cy="914400"/>
          </a:xfrm>
          <a:prstGeom prst="rect">
            <a:avLst/>
          </a:prstGeom>
          <a:noFill/>
        </p:spPr>
        <p:txBody>
          <a:bodyPr wrap="square" anchor="t" lIns="0" rIns="0" tIns="0" bIns="0">
            <a:spAutoFit/>
          </a:bodyPr>
          <a:lstStyle/>
          <a:p>
            <a:pPr algn="l">
              <a:spcAft>
                <a:spcPts val="400"/>
              </a:spcAft>
            </a:pPr>
            <a:r>
              <a:rPr sz="3200" b="1" i="0">
                <a:solidFill>
                  <a:srgbClr val="2C3E50"/>
                </a:solidFill>
                <a:latin typeface="Cambria"/>
              </a:rPr>
              <a:t>What We Measured, and What We Didn't</a:t>
            </a:r>
          </a:p>
        </p:txBody>
      </p:sp>
      <p:graphicFrame>
        <p:nvGraphicFramePr>
          <p:cNvPr id="5" name="Table 4"/>
          <p:cNvGraphicFramePr>
            <a:graphicFrameLocks noGrp="1"/>
          </p:cNvGraphicFramePr>
          <p:nvPr/>
        </p:nvGraphicFramePr>
        <p:xfrm>
          <a:off x="685800" y="2148840"/>
          <a:ext cx="7315200" cy="2377440"/>
        </p:xfrm>
        <a:graphic>
          <a:graphicData uri="http://schemas.openxmlformats.org/drawingml/2006/table">
            <a:tbl>
              <a:tblPr firstRow="1" bandRow="1">
                <a:tableStyleId>{5C22544A-7EE6-4342-B048-85BDC9FD1C3A}</a:tableStyleId>
              </a:tblPr>
              <a:tblGrid>
                <a:gridCol w="2286000"/>
                <a:gridCol w="2743200"/>
                <a:gridCol w="2286000"/>
              </a:tblGrid>
              <a:tr h="475488">
                <a:tc>
                  <a:txBody>
                    <a:bodyPr wrap="square" lIns="73152" tIns="27432"/>
                    <a:lstStyle/>
                    <a:p>
                      <a:pPr algn="l">
                        <a:spcAft>
                          <a:spcPts val="400"/>
                        </a:spcAft>
                      </a:pPr>
                      <a:r>
                        <a:rPr sz="1250" b="1" i="0">
                          <a:solidFill>
                            <a:srgbClr val="FFFFFF"/>
                          </a:solidFill>
                          <a:latin typeface="Calibri"/>
                        </a:rPr>
                        <a:t>Category</a:t>
                      </a:r>
                    </a:p>
                  </a:txBody>
                  <a:tcPr>
                    <a:solidFill>
                      <a:srgbClr val="2C3E50"/>
                    </a:solidFill>
                  </a:tcPr>
                </a:tc>
                <a:tc>
                  <a:txBody>
                    <a:bodyPr wrap="square" lIns="73152" tIns="27432"/>
                    <a:lstStyle/>
                    <a:p>
                      <a:pPr algn="l">
                        <a:spcAft>
                          <a:spcPts val="400"/>
                        </a:spcAft>
                      </a:pPr>
                      <a:r>
                        <a:rPr sz="1250" b="1" i="0">
                          <a:solidFill>
                            <a:srgbClr val="FFFFFF"/>
                          </a:solidFill>
                          <a:latin typeface="Calibri"/>
                        </a:rPr>
                        <a:t>Source</a:t>
                      </a:r>
                    </a:p>
                  </a:txBody>
                  <a:tcPr>
                    <a:solidFill>
                      <a:srgbClr val="2C3E50"/>
                    </a:solidFill>
                  </a:tcPr>
                </a:tc>
                <a:tc>
                  <a:txBody>
                    <a:bodyPr wrap="square" lIns="73152" tIns="27432"/>
                    <a:lstStyle/>
                    <a:p>
                      <a:pPr algn="l">
                        <a:spcAft>
                          <a:spcPts val="400"/>
                        </a:spcAft>
                      </a:pPr>
                      <a:r>
                        <a:rPr sz="1250" b="1" i="0">
                          <a:solidFill>
                            <a:srgbClr val="FFFFFF"/>
                          </a:solidFill>
                          <a:latin typeface="Calibri"/>
                        </a:rPr>
                        <a:t>Note</a:t>
                      </a:r>
                    </a:p>
                  </a:txBody>
                  <a:tcPr>
                    <a:solidFill>
                      <a:srgbClr val="2C3E50"/>
                    </a:solidFill>
                  </a:tcPr>
                </a:tc>
              </a:tr>
              <a:tr h="475488">
                <a:tc>
                  <a:txBody>
                    <a:bodyPr wrap="square" lIns="73152" tIns="27432"/>
                    <a:lstStyle/>
                    <a:p>
                      <a:pPr algn="l">
                        <a:spcAft>
                          <a:spcPts val="400"/>
                        </a:spcAft>
                      </a:pPr>
                      <a:r>
                        <a:rPr sz="1250" b="0" i="0">
                          <a:solidFill>
                            <a:srgbClr val="222A30"/>
                          </a:solidFill>
                          <a:latin typeface="Calibri"/>
                        </a:rPr>
                        <a:t>Race Performance</a:t>
                      </a:r>
                    </a:p>
                  </a:txBody>
                  <a:tcPr>
                    <a:solidFill>
                      <a:srgbClr val="FFFFFF"/>
                    </a:solidFill>
                  </a:tcPr>
                </a:tc>
                <a:tc>
                  <a:txBody>
                    <a:bodyPr wrap="square" lIns="73152" tIns="27432"/>
                    <a:lstStyle/>
                    <a:p>
                      <a:pPr algn="l">
                        <a:spcAft>
                          <a:spcPts val="400"/>
                        </a:spcAft>
                      </a:pPr>
                      <a:r>
                        <a:rPr sz="1250" b="0" i="0">
                          <a:solidFill>
                            <a:srgbClr val="222A30"/>
                          </a:solidFill>
                          <a:latin typeface="Calibri"/>
                        </a:rPr>
                        <a:t>Kaggle, Racing Reference</a:t>
                      </a:r>
                    </a:p>
                  </a:txBody>
                  <a:tcPr>
                    <a:solidFill>
                      <a:srgbClr val="FFFFFF"/>
                    </a:solidFill>
                  </a:tcPr>
                </a:tc>
                <a:tc>
                  <a:txBody>
                    <a:bodyPr wrap="square" lIns="73152" tIns="27432"/>
                    <a:lstStyle/>
                    <a:p>
                      <a:pPr algn="l">
                        <a:spcAft>
                          <a:spcPts val="400"/>
                        </a:spcAft>
                      </a:pPr>
                      <a:r>
                        <a:rPr sz="1250" b="0" i="0">
                          <a:solidFill>
                            <a:srgbClr val="222A30"/>
                          </a:solidFill>
                          <a:latin typeface="Calibri"/>
                        </a:rPr>
                        <a:t>36 races, full season</a:t>
                      </a:r>
                    </a:p>
                  </a:txBody>
                  <a:tcPr>
                    <a:solidFill>
                      <a:srgbClr val="FFFFFF"/>
                    </a:solidFill>
                  </a:tcPr>
                </a:tc>
              </a:tr>
              <a:tr h="475488">
                <a:tc>
                  <a:txBody>
                    <a:bodyPr wrap="square" lIns="73152" tIns="27432"/>
                    <a:lstStyle/>
                    <a:p>
                      <a:pPr algn="l">
                        <a:spcAft>
                          <a:spcPts val="400"/>
                        </a:spcAft>
                      </a:pPr>
                      <a:r>
                        <a:rPr sz="1250" b="0" i="0">
                          <a:solidFill>
                            <a:srgbClr val="222A30"/>
                          </a:solidFill>
                          <a:latin typeface="Calibri"/>
                        </a:rPr>
                        <a:t>Social Media</a:t>
                      </a:r>
                    </a:p>
                  </a:txBody>
                  <a:tcPr>
                    <a:solidFill>
                      <a:srgbClr val="F4F6F7"/>
                    </a:solidFill>
                  </a:tcPr>
                </a:tc>
                <a:tc>
                  <a:txBody>
                    <a:bodyPr wrap="square" lIns="73152" tIns="27432"/>
                    <a:lstStyle/>
                    <a:p>
                      <a:pPr algn="l">
                        <a:spcAft>
                          <a:spcPts val="400"/>
                        </a:spcAft>
                      </a:pPr>
                      <a:r>
                        <a:rPr sz="1250" b="0" i="0">
                          <a:solidFill>
                            <a:srgbClr val="222A30"/>
                          </a:solidFill>
                          <a:latin typeface="Calibri"/>
                        </a:rPr>
                        <a:t>Google Trends, YouTube API</a:t>
                      </a:r>
                    </a:p>
                  </a:txBody>
                  <a:tcPr>
                    <a:solidFill>
                      <a:srgbClr val="F4F6F7"/>
                    </a:solidFill>
                  </a:tcPr>
                </a:tc>
                <a:tc>
                  <a:txBody>
                    <a:bodyPr wrap="square" lIns="73152" tIns="27432"/>
                    <a:lstStyle/>
                    <a:p>
                      <a:pPr algn="l">
                        <a:spcAft>
                          <a:spcPts val="400"/>
                        </a:spcAft>
                      </a:pPr>
                      <a:r>
                        <a:rPr sz="1250" b="0" i="0">
                          <a:solidFill>
                            <a:srgbClr val="222A30"/>
                          </a:solidFill>
                          <a:latin typeface="Calibri"/>
                        </a:rPr>
                        <a:t>Fan engagement (proxy)</a:t>
                      </a:r>
                    </a:p>
                  </a:txBody>
                  <a:tcPr>
                    <a:solidFill>
                      <a:srgbClr val="F4F6F7"/>
                    </a:solidFill>
                  </a:tcPr>
                </a:tc>
              </a:tr>
              <a:tr h="475488">
                <a:tc>
                  <a:txBody>
                    <a:bodyPr wrap="square" lIns="73152" tIns="27432"/>
                    <a:lstStyle/>
                    <a:p>
                      <a:pPr algn="l">
                        <a:spcAft>
                          <a:spcPts val="400"/>
                        </a:spcAft>
                      </a:pPr>
                      <a:r>
                        <a:rPr sz="1250" b="0" i="0">
                          <a:solidFill>
                            <a:srgbClr val="222A30"/>
                          </a:solidFill>
                          <a:latin typeface="Calibri"/>
                        </a:rPr>
                        <a:t>News Coverage</a:t>
                      </a:r>
                    </a:p>
                  </a:txBody>
                  <a:tcPr>
                    <a:solidFill>
                      <a:srgbClr val="FFFFFF"/>
                    </a:solidFill>
                  </a:tcPr>
                </a:tc>
                <a:tc>
                  <a:txBody>
                    <a:bodyPr wrap="square" lIns="73152" tIns="27432"/>
                    <a:lstStyle/>
                    <a:p>
                      <a:pPr algn="l">
                        <a:spcAft>
                          <a:spcPts val="400"/>
                        </a:spcAft>
                      </a:pPr>
                      <a:r>
                        <a:rPr sz="1250" b="0" i="0">
                          <a:solidFill>
                            <a:srgbClr val="222A30"/>
                          </a:solidFill>
                          <a:latin typeface="Calibri"/>
                        </a:rPr>
                        <a:t>Manual search</a:t>
                      </a:r>
                    </a:p>
                  </a:txBody>
                  <a:tcPr>
                    <a:solidFill>
                      <a:srgbClr val="FFFFFF"/>
                    </a:solidFill>
                  </a:tcPr>
                </a:tc>
                <a:tc>
                  <a:txBody>
                    <a:bodyPr wrap="square" lIns="73152" tIns="27432"/>
                    <a:lstStyle/>
                    <a:p>
                      <a:pPr algn="l">
                        <a:spcAft>
                          <a:spcPts val="400"/>
                        </a:spcAft>
                      </a:pPr>
                      <a:r>
                        <a:rPr sz="1250" b="0" i="0">
                          <a:solidFill>
                            <a:srgbClr val="222A30"/>
                          </a:solidFill>
                          <a:latin typeface="Calibri"/>
                        </a:rPr>
                        <a:t>Quality-weighted by tier</a:t>
                      </a:r>
                    </a:p>
                  </a:txBody>
                  <a:tcPr>
                    <a:solidFill>
                      <a:srgbClr val="FFFFFF"/>
                    </a:solidFill>
                  </a:tcPr>
                </a:tc>
              </a:tr>
              <a:tr h="475488">
                <a:tc>
                  <a:txBody>
                    <a:bodyPr wrap="square" lIns="73152" tIns="27432"/>
                    <a:lstStyle/>
                    <a:p>
                      <a:pPr algn="l">
                        <a:spcAft>
                          <a:spcPts val="400"/>
                        </a:spcAft>
                      </a:pPr>
                      <a:r>
                        <a:rPr sz="1250" b="0" i="0">
                          <a:solidFill>
                            <a:srgbClr val="222A30"/>
                          </a:solidFill>
                          <a:latin typeface="Calibri"/>
                        </a:rPr>
                        <a:t>Costs</a:t>
                      </a:r>
                    </a:p>
                  </a:txBody>
                  <a:tcPr>
                    <a:solidFill>
                      <a:srgbClr val="F4F6F7"/>
                    </a:solidFill>
                  </a:tcPr>
                </a:tc>
                <a:tc>
                  <a:txBody>
                    <a:bodyPr wrap="square" lIns="73152" tIns="27432"/>
                    <a:lstStyle/>
                    <a:p>
                      <a:pPr algn="l">
                        <a:spcAft>
                          <a:spcPts val="400"/>
                        </a:spcAft>
                      </a:pPr>
                      <a:r>
                        <a:rPr sz="1250" b="0" i="0">
                          <a:solidFill>
                            <a:srgbClr val="222A30"/>
                          </a:solidFill>
                          <a:latin typeface="Calibri"/>
                        </a:rPr>
                        <a:t>Industry estimates</a:t>
                      </a:r>
                    </a:p>
                  </a:txBody>
                  <a:tcPr>
                    <a:solidFill>
                      <a:srgbClr val="F4F6F7"/>
                    </a:solidFill>
                  </a:tcPr>
                </a:tc>
                <a:tc>
                  <a:txBody>
                    <a:bodyPr wrap="square" lIns="73152" tIns="27432"/>
                    <a:lstStyle/>
                    <a:p>
                      <a:pPr algn="l">
                        <a:spcAft>
                          <a:spcPts val="400"/>
                        </a:spcAft>
                      </a:pPr>
                      <a:r>
                        <a:rPr sz="1250" b="0" i="0">
                          <a:solidFill>
                            <a:srgbClr val="222A30"/>
                          </a:solidFill>
                          <a:latin typeface="Calibri"/>
                        </a:rPr>
                        <a:t>15-20% uncertainty</a:t>
                      </a:r>
                    </a:p>
                  </a:txBody>
                  <a:tcPr>
                    <a:solidFill>
                      <a:srgbClr val="F4F6F7"/>
                    </a:solidFill>
                  </a:tcPr>
                </a:tc>
              </a:tr>
            </a:tbl>
          </a:graphicData>
        </a:graphic>
      </p:graphicFrame>
      <p:sp>
        <p:nvSpPr>
          <p:cNvPr id="6" name="Rounded Rectangle 5"/>
          <p:cNvSpPr/>
          <p:nvPr/>
        </p:nvSpPr>
        <p:spPr>
          <a:xfrm>
            <a:off x="8275320" y="2148840"/>
            <a:ext cx="3337560" cy="2377440"/>
          </a:xfrm>
          <a:prstGeom prst="roundRect">
            <a:avLst>
              <a:gd name="adj" fmla="val 9000"/>
            </a:avLst>
          </a:prstGeom>
          <a:solidFill>
            <a:srgbClr val="FCEFCF"/>
          </a:solidFill>
          <a:ln w="15875">
            <a:solidFill>
              <a:srgbClr val="F39C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2377440"/>
            <a:ext cx="2788920" cy="1920240"/>
          </a:xfrm>
          <a:prstGeom prst="rect">
            <a:avLst/>
          </a:prstGeom>
          <a:noFill/>
        </p:spPr>
        <p:txBody>
          <a:bodyPr wrap="square" anchor="t" lIns="0" rIns="0" tIns="0" bIns="0">
            <a:spAutoFit/>
          </a:bodyPr>
          <a:lstStyle/>
          <a:p>
            <a:pPr algn="l">
              <a:spcAft>
                <a:spcPts val="500"/>
              </a:spcAft>
            </a:pPr>
            <a:r>
              <a:rPr sz="1200" b="1" i="0">
                <a:solidFill>
                  <a:srgbClr val="B97600"/>
                </a:solidFill>
                <a:latin typeface="Calibri"/>
              </a:rPr>
              <a:t>IMPORTANT CAVEAT</a:t>
            </a:r>
          </a:p>
          <a:p>
            <a:pPr algn="l">
              <a:spcAft>
                <a:spcPts val="400"/>
              </a:spcAft>
            </a:pPr>
            <a:r>
              <a:rPr sz="1400" b="0" i="0">
                <a:solidFill>
                  <a:srgbClr val="222A30"/>
                </a:solidFill>
                <a:latin typeface="Calibri"/>
              </a:rPr>
              <a:t>Sponsorship costs are estimates, not actual contract values. The industry does not publish these figures. Our efficiency rankings stay stable when tested against high and low estimates.</a:t>
            </a:r>
          </a:p>
        </p:txBody>
      </p:sp>
      <p:sp>
        <p:nvSpPr>
          <p:cNvPr id="8" name="TextBox 7"/>
          <p:cNvSpPr txBox="1"/>
          <p:nvPr/>
        </p:nvSpPr>
        <p:spPr>
          <a:xfrm>
            <a:off x="502920" y="6419088"/>
            <a:ext cx="7315200" cy="320040"/>
          </a:xfrm>
          <a:prstGeom prst="rect">
            <a:avLst/>
          </a:prstGeom>
          <a:noFill/>
        </p:spPr>
        <p:txBody>
          <a:bodyPr wrap="square" anchor="t" lIns="0" rIns="0" tIns="0" bIns="0">
            <a:spAutoFit/>
          </a:bodyPr>
          <a:lstStyle/>
          <a:p>
            <a:pPr algn="l">
              <a:spcAft>
                <a:spcPts val="400"/>
              </a:spcAft>
            </a:pPr>
            <a:r>
              <a:rPr sz="900" b="0" i="0">
                <a:solidFill>
                  <a:srgbClr val="95A5A6"/>
                </a:solidFill>
                <a:latin typeface="Calibri"/>
              </a:rPr>
              <a:t>NASCAR Sponsorship ROI Analysis  |  NY Racing</a:t>
            </a:r>
          </a:p>
        </p:txBody>
      </p:sp>
      <p:sp>
        <p:nvSpPr>
          <p:cNvPr id="9" name="TextBox 8"/>
          <p:cNvSpPr txBox="1"/>
          <p:nvPr/>
        </p:nvSpPr>
        <p:spPr>
          <a:xfrm>
            <a:off x="10972800" y="6419088"/>
            <a:ext cx="822960" cy="320040"/>
          </a:xfrm>
          <a:prstGeom prst="rect">
            <a:avLst/>
          </a:prstGeom>
          <a:noFill/>
        </p:spPr>
        <p:txBody>
          <a:bodyPr wrap="square" anchor="t" lIns="0" rIns="0" tIns="0" bIns="0">
            <a:spAutoFit/>
          </a:bodyPr>
          <a:lstStyle/>
          <a:p>
            <a:pPr algn="r">
              <a:spcAft>
                <a:spcPts val="400"/>
              </a:spcAft>
            </a:pPr>
            <a:r>
              <a:rPr sz="900" b="0" i="0">
                <a:solidFill>
                  <a:srgbClr val="95A5A6"/>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spcAft>
                <a:spcPts val="400"/>
              </a:spcAft>
            </a:pPr>
            <a:r>
              <a:rPr sz="1200" b="1" i="0">
                <a:solidFill>
                  <a:srgbClr val="F39C12"/>
                </a:solidFill>
                <a:latin typeface="Calibri"/>
              </a:rPr>
              <a:t>KEY FINDING #1</a:t>
            </a:r>
          </a:p>
        </p:txBody>
      </p:sp>
      <p:sp>
        <p:nvSpPr>
          <p:cNvPr id="4" name="TextBox 3"/>
          <p:cNvSpPr txBox="1"/>
          <p:nvPr/>
        </p:nvSpPr>
        <p:spPr>
          <a:xfrm>
            <a:off x="548640" y="777240"/>
            <a:ext cx="11064240" cy="914400"/>
          </a:xfrm>
          <a:prstGeom prst="rect">
            <a:avLst/>
          </a:prstGeom>
          <a:noFill/>
        </p:spPr>
        <p:txBody>
          <a:bodyPr wrap="square" anchor="t" lIns="0" rIns="0" tIns="0" bIns="0">
            <a:spAutoFit/>
          </a:bodyPr>
          <a:lstStyle/>
          <a:p>
            <a:pPr algn="l">
              <a:spcAft>
                <a:spcPts val="400"/>
              </a:spcAft>
            </a:pPr>
            <a:r>
              <a:rPr sz="3200" b="1" i="0">
                <a:solidFill>
                  <a:srgbClr val="2C3E50"/>
                </a:solidFill>
                <a:latin typeface="Cambria"/>
              </a:rPr>
              <a:t>Highest Visibility Is Not Best Value</a:t>
            </a:r>
          </a:p>
        </p:txBody>
      </p:sp>
      <p:pic>
        <p:nvPicPr>
          <p:cNvPr id="5" name="Picture 4" descr="efficiency_rankings.png"/>
          <p:cNvPicPr>
            <a:picLocks noChangeAspect="1"/>
          </p:cNvPicPr>
          <p:nvPr/>
        </p:nvPicPr>
        <p:blipFill>
          <a:blip r:embed="rId2"/>
          <a:stretch>
            <a:fillRect/>
          </a:stretch>
        </p:blipFill>
        <p:spPr>
          <a:xfrm>
            <a:off x="640080" y="2148840"/>
            <a:ext cx="6126480" cy="3393768"/>
          </a:xfrm>
          <a:prstGeom prst="rect">
            <a:avLst/>
          </a:prstGeom>
        </p:spPr>
      </p:pic>
      <p:sp>
        <p:nvSpPr>
          <p:cNvPr id="6" name="Rounded Rectangle 5"/>
          <p:cNvSpPr/>
          <p:nvPr/>
        </p:nvSpPr>
        <p:spPr>
          <a:xfrm>
            <a:off x="7040880" y="2377440"/>
            <a:ext cx="4526280" cy="3200400"/>
          </a:xfrm>
          <a:prstGeom prst="roundRect">
            <a:avLst>
              <a:gd name="adj" fmla="val 9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2651760"/>
            <a:ext cx="3977639" cy="2651760"/>
          </a:xfrm>
          <a:prstGeom prst="rect">
            <a:avLst/>
          </a:prstGeom>
          <a:noFill/>
        </p:spPr>
        <p:txBody>
          <a:bodyPr wrap="square" anchor="t" lIns="0" rIns="0" tIns="0" bIns="0">
            <a:spAutoFit/>
          </a:bodyPr>
          <a:lstStyle/>
          <a:p>
            <a:pPr algn="l">
              <a:spcAft>
                <a:spcPts val="800"/>
              </a:spcAft>
            </a:pPr>
            <a:r>
              <a:rPr sz="1200" b="1" i="0">
                <a:solidFill>
                  <a:srgbClr val="F39C12"/>
                </a:solidFill>
                <a:latin typeface="Calibri"/>
              </a:rPr>
              <a:t>SO WHAT?</a:t>
            </a:r>
          </a:p>
          <a:p>
            <a:pPr algn="l">
              <a:spcAft>
                <a:spcPts val="400"/>
              </a:spcAft>
            </a:pPr>
            <a:r>
              <a:rPr sz="1700" b="0" i="0">
                <a:solidFill>
                  <a:srgbClr val="222A30"/>
                </a:solidFill>
                <a:latin typeface="Calibri"/>
              </a:rPr>
              <a:t>NAPA leads on exposure but ranks LAST on value per dollar. Love's is the reverse. Paying more does not always buy more visibility.</a:t>
            </a:r>
          </a:p>
        </p:txBody>
      </p:sp>
      <p:sp>
        <p:nvSpPr>
          <p:cNvPr id="8" name="TextBox 7"/>
          <p:cNvSpPr txBox="1"/>
          <p:nvPr/>
        </p:nvSpPr>
        <p:spPr>
          <a:xfrm>
            <a:off x="502920" y="6419088"/>
            <a:ext cx="7315200" cy="320040"/>
          </a:xfrm>
          <a:prstGeom prst="rect">
            <a:avLst/>
          </a:prstGeom>
          <a:noFill/>
        </p:spPr>
        <p:txBody>
          <a:bodyPr wrap="square" anchor="t" lIns="0" rIns="0" tIns="0" bIns="0">
            <a:spAutoFit/>
          </a:bodyPr>
          <a:lstStyle/>
          <a:p>
            <a:pPr algn="l">
              <a:spcAft>
                <a:spcPts val="400"/>
              </a:spcAft>
            </a:pPr>
            <a:r>
              <a:rPr sz="900" b="0" i="0">
                <a:solidFill>
                  <a:srgbClr val="95A5A6"/>
                </a:solidFill>
                <a:latin typeface="Calibri"/>
              </a:rPr>
              <a:t>NASCAR Sponsorship ROI Analysis  |  NY Racing</a:t>
            </a:r>
          </a:p>
        </p:txBody>
      </p:sp>
      <p:sp>
        <p:nvSpPr>
          <p:cNvPr id="9" name="TextBox 8"/>
          <p:cNvSpPr txBox="1"/>
          <p:nvPr/>
        </p:nvSpPr>
        <p:spPr>
          <a:xfrm>
            <a:off x="10972800" y="6419088"/>
            <a:ext cx="822960" cy="320040"/>
          </a:xfrm>
          <a:prstGeom prst="rect">
            <a:avLst/>
          </a:prstGeom>
          <a:noFill/>
        </p:spPr>
        <p:txBody>
          <a:bodyPr wrap="square" anchor="t" lIns="0" rIns="0" tIns="0" bIns="0">
            <a:spAutoFit/>
          </a:bodyPr>
          <a:lstStyle/>
          <a:p>
            <a:pPr algn="r">
              <a:spcAft>
                <a:spcPts val="400"/>
              </a:spcAft>
            </a:pPr>
            <a:r>
              <a:rPr sz="900" b="0" i="0">
                <a:solidFill>
                  <a:srgbClr val="95A5A6"/>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spcAft>
                <a:spcPts val="400"/>
              </a:spcAft>
            </a:pPr>
            <a:r>
              <a:rPr sz="1200" b="1" i="0">
                <a:solidFill>
                  <a:srgbClr val="F39C12"/>
                </a:solidFill>
                <a:latin typeface="Calibri"/>
              </a:rPr>
              <a:t>KEY FINDING #2</a:t>
            </a:r>
          </a:p>
        </p:txBody>
      </p:sp>
      <p:sp>
        <p:nvSpPr>
          <p:cNvPr id="4" name="TextBox 3"/>
          <p:cNvSpPr txBox="1"/>
          <p:nvPr/>
        </p:nvSpPr>
        <p:spPr>
          <a:xfrm>
            <a:off x="548640" y="777240"/>
            <a:ext cx="11064240" cy="914400"/>
          </a:xfrm>
          <a:prstGeom prst="rect">
            <a:avLst/>
          </a:prstGeom>
          <a:noFill/>
        </p:spPr>
        <p:txBody>
          <a:bodyPr wrap="square" anchor="t" lIns="0" rIns="0" tIns="0" bIns="0">
            <a:spAutoFit/>
          </a:bodyPr>
          <a:lstStyle/>
          <a:p>
            <a:pPr algn="l">
              <a:spcAft>
                <a:spcPts val="400"/>
              </a:spcAft>
            </a:pPr>
            <a:r>
              <a:rPr sz="3200" b="1" i="0">
                <a:solidFill>
                  <a:srgbClr val="2C3E50"/>
                </a:solidFill>
                <a:latin typeface="Cambria"/>
              </a:rPr>
              <a:t>FedEx Is the Balanced Sweet Spot</a:t>
            </a:r>
          </a:p>
        </p:txBody>
      </p:sp>
      <p:pic>
        <p:nvPicPr>
          <p:cNvPr id="5" name="Picture 4" descr="visibility_rankings.png"/>
          <p:cNvPicPr>
            <a:picLocks noChangeAspect="1"/>
          </p:cNvPicPr>
          <p:nvPr/>
        </p:nvPicPr>
        <p:blipFill>
          <a:blip r:embed="rId2"/>
          <a:stretch>
            <a:fillRect/>
          </a:stretch>
        </p:blipFill>
        <p:spPr>
          <a:xfrm>
            <a:off x="640080" y="2148840"/>
            <a:ext cx="6126480" cy="3393768"/>
          </a:xfrm>
          <a:prstGeom prst="rect">
            <a:avLst/>
          </a:prstGeom>
        </p:spPr>
      </p:pic>
      <p:sp>
        <p:nvSpPr>
          <p:cNvPr id="6" name="Rounded Rectangle 5"/>
          <p:cNvSpPr/>
          <p:nvPr/>
        </p:nvSpPr>
        <p:spPr>
          <a:xfrm>
            <a:off x="7040880" y="2377440"/>
            <a:ext cx="4526280" cy="3200400"/>
          </a:xfrm>
          <a:prstGeom prst="roundRect">
            <a:avLst>
              <a:gd name="adj" fmla="val 9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2651760"/>
            <a:ext cx="3977639" cy="2651760"/>
          </a:xfrm>
          <a:prstGeom prst="rect">
            <a:avLst/>
          </a:prstGeom>
          <a:noFill/>
        </p:spPr>
        <p:txBody>
          <a:bodyPr wrap="square" anchor="t" lIns="0" rIns="0" tIns="0" bIns="0">
            <a:spAutoFit/>
          </a:bodyPr>
          <a:lstStyle/>
          <a:p>
            <a:pPr algn="l">
              <a:spcAft>
                <a:spcPts val="800"/>
              </a:spcAft>
            </a:pPr>
            <a:r>
              <a:rPr sz="1200" b="1" i="0">
                <a:solidFill>
                  <a:srgbClr val="F39C12"/>
                </a:solidFill>
                <a:latin typeface="Calibri"/>
              </a:rPr>
              <a:t>SO WHAT?</a:t>
            </a:r>
          </a:p>
          <a:p>
            <a:pPr algn="l">
              <a:spcAft>
                <a:spcPts val="400"/>
              </a:spcAft>
            </a:pPr>
            <a:r>
              <a:rPr sz="1700" b="0" i="0">
                <a:solidFill>
                  <a:srgbClr val="222A30"/>
                </a:solidFill>
                <a:latin typeface="Calibri"/>
              </a:rPr>
              <a:t>FedEx ranks #2 in visibility AND #2 in efficiency, capturing 99.7% of the top sponsor's exposure at a better value. No other sponsor is strong on both.</a:t>
            </a:r>
          </a:p>
        </p:txBody>
      </p:sp>
      <p:sp>
        <p:nvSpPr>
          <p:cNvPr id="8" name="TextBox 7"/>
          <p:cNvSpPr txBox="1"/>
          <p:nvPr/>
        </p:nvSpPr>
        <p:spPr>
          <a:xfrm>
            <a:off x="502920" y="6419088"/>
            <a:ext cx="7315200" cy="320040"/>
          </a:xfrm>
          <a:prstGeom prst="rect">
            <a:avLst/>
          </a:prstGeom>
          <a:noFill/>
        </p:spPr>
        <p:txBody>
          <a:bodyPr wrap="square" anchor="t" lIns="0" rIns="0" tIns="0" bIns="0">
            <a:spAutoFit/>
          </a:bodyPr>
          <a:lstStyle/>
          <a:p>
            <a:pPr algn="l">
              <a:spcAft>
                <a:spcPts val="400"/>
              </a:spcAft>
            </a:pPr>
            <a:r>
              <a:rPr sz="900" b="0" i="0">
                <a:solidFill>
                  <a:srgbClr val="95A5A6"/>
                </a:solidFill>
                <a:latin typeface="Calibri"/>
              </a:rPr>
              <a:t>NASCAR Sponsorship ROI Analysis  |  NY Racing</a:t>
            </a:r>
          </a:p>
        </p:txBody>
      </p:sp>
      <p:sp>
        <p:nvSpPr>
          <p:cNvPr id="9" name="TextBox 8"/>
          <p:cNvSpPr txBox="1"/>
          <p:nvPr/>
        </p:nvSpPr>
        <p:spPr>
          <a:xfrm>
            <a:off x="10972800" y="6419088"/>
            <a:ext cx="822960" cy="320040"/>
          </a:xfrm>
          <a:prstGeom prst="rect">
            <a:avLst/>
          </a:prstGeom>
          <a:noFill/>
        </p:spPr>
        <p:txBody>
          <a:bodyPr wrap="square" anchor="t" lIns="0" rIns="0" tIns="0" bIns="0">
            <a:spAutoFit/>
          </a:bodyPr>
          <a:lstStyle/>
          <a:p>
            <a:pPr algn="r">
              <a:spcAft>
                <a:spcPts val="400"/>
              </a:spcAft>
            </a:pPr>
            <a:r>
              <a:rPr sz="900" b="0" i="0">
                <a:solidFill>
                  <a:srgbClr val="95A5A6"/>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spcAft>
                <a:spcPts val="400"/>
              </a:spcAft>
            </a:pPr>
            <a:r>
              <a:rPr sz="1200" b="1" i="0">
                <a:solidFill>
                  <a:srgbClr val="F39C12"/>
                </a:solidFill>
                <a:latin typeface="Calibri"/>
              </a:rPr>
              <a:t>KEY FINDING #3</a:t>
            </a:r>
          </a:p>
        </p:txBody>
      </p:sp>
      <p:sp>
        <p:nvSpPr>
          <p:cNvPr id="4" name="TextBox 3"/>
          <p:cNvSpPr txBox="1"/>
          <p:nvPr/>
        </p:nvSpPr>
        <p:spPr>
          <a:xfrm>
            <a:off x="548640" y="777240"/>
            <a:ext cx="11064240" cy="914400"/>
          </a:xfrm>
          <a:prstGeom prst="rect">
            <a:avLst/>
          </a:prstGeom>
          <a:noFill/>
        </p:spPr>
        <p:txBody>
          <a:bodyPr wrap="square" anchor="t" lIns="0" rIns="0" tIns="0" bIns="0">
            <a:spAutoFit/>
          </a:bodyPr>
          <a:lstStyle/>
          <a:p>
            <a:pPr algn="l">
              <a:spcAft>
                <a:spcPts val="400"/>
              </a:spcAft>
            </a:pPr>
            <a:r>
              <a:rPr sz="3200" b="1" i="0">
                <a:solidFill>
                  <a:srgbClr val="2C3E50"/>
                </a:solidFill>
                <a:latin typeface="Cambria"/>
              </a:rPr>
              <a:t>The Recommendation Is Robust</a:t>
            </a:r>
          </a:p>
        </p:txBody>
      </p:sp>
      <p:pic>
        <p:nvPicPr>
          <p:cNvPr id="5" name="Picture 4" descr="sensitivity_analysis.png"/>
          <p:cNvPicPr>
            <a:picLocks noChangeAspect="1"/>
          </p:cNvPicPr>
          <p:nvPr/>
        </p:nvPicPr>
        <p:blipFill>
          <a:blip r:embed="rId2"/>
          <a:stretch>
            <a:fillRect/>
          </a:stretch>
        </p:blipFill>
        <p:spPr>
          <a:xfrm>
            <a:off x="640080" y="2148840"/>
            <a:ext cx="5943600" cy="3190582"/>
          </a:xfrm>
          <a:prstGeom prst="rect">
            <a:avLst/>
          </a:prstGeom>
        </p:spPr>
      </p:pic>
      <p:sp>
        <p:nvSpPr>
          <p:cNvPr id="6" name="Rounded Rectangle 5"/>
          <p:cNvSpPr/>
          <p:nvPr/>
        </p:nvSpPr>
        <p:spPr>
          <a:xfrm>
            <a:off x="7040880" y="2377440"/>
            <a:ext cx="4526280" cy="3200400"/>
          </a:xfrm>
          <a:prstGeom prst="roundRect">
            <a:avLst>
              <a:gd name="adj" fmla="val 9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2651760"/>
            <a:ext cx="3977639" cy="2651760"/>
          </a:xfrm>
          <a:prstGeom prst="rect">
            <a:avLst/>
          </a:prstGeom>
          <a:noFill/>
        </p:spPr>
        <p:txBody>
          <a:bodyPr wrap="square" anchor="t" lIns="0" rIns="0" tIns="0" bIns="0">
            <a:spAutoFit/>
          </a:bodyPr>
          <a:lstStyle/>
          <a:p>
            <a:pPr algn="l">
              <a:spcAft>
                <a:spcPts val="800"/>
              </a:spcAft>
            </a:pPr>
            <a:r>
              <a:rPr sz="1200" b="1" i="0">
                <a:solidFill>
                  <a:srgbClr val="F39C12"/>
                </a:solidFill>
                <a:latin typeface="Calibri"/>
              </a:rPr>
              <a:t>SO WHAT?</a:t>
            </a:r>
          </a:p>
          <a:p>
            <a:pPr algn="l">
              <a:spcAft>
                <a:spcPts val="400"/>
              </a:spcAft>
            </a:pPr>
            <a:r>
              <a:rPr sz="1700" b="0" i="0">
                <a:solidFill>
                  <a:srgbClr val="222A30"/>
                </a:solidFill>
                <a:latin typeface="Calibri"/>
              </a:rPr>
              <a:t>We re-ran the model under four weighting schemes. The ranking moves at most one position. The conclusion does not depend on our exact assumptions.</a:t>
            </a:r>
          </a:p>
        </p:txBody>
      </p:sp>
      <p:sp>
        <p:nvSpPr>
          <p:cNvPr id="8" name="TextBox 7"/>
          <p:cNvSpPr txBox="1"/>
          <p:nvPr/>
        </p:nvSpPr>
        <p:spPr>
          <a:xfrm>
            <a:off x="502920" y="6419088"/>
            <a:ext cx="7315200" cy="320040"/>
          </a:xfrm>
          <a:prstGeom prst="rect">
            <a:avLst/>
          </a:prstGeom>
          <a:noFill/>
        </p:spPr>
        <p:txBody>
          <a:bodyPr wrap="square" anchor="t" lIns="0" rIns="0" tIns="0" bIns="0">
            <a:spAutoFit/>
          </a:bodyPr>
          <a:lstStyle/>
          <a:p>
            <a:pPr algn="l">
              <a:spcAft>
                <a:spcPts val="400"/>
              </a:spcAft>
            </a:pPr>
            <a:r>
              <a:rPr sz="900" b="0" i="0">
                <a:solidFill>
                  <a:srgbClr val="95A5A6"/>
                </a:solidFill>
                <a:latin typeface="Calibri"/>
              </a:rPr>
              <a:t>NASCAR Sponsorship ROI Analysis  |  NY Racing</a:t>
            </a:r>
          </a:p>
        </p:txBody>
      </p:sp>
      <p:sp>
        <p:nvSpPr>
          <p:cNvPr id="9" name="TextBox 8"/>
          <p:cNvSpPr txBox="1"/>
          <p:nvPr/>
        </p:nvSpPr>
        <p:spPr>
          <a:xfrm>
            <a:off x="10972800" y="6419088"/>
            <a:ext cx="822960" cy="320040"/>
          </a:xfrm>
          <a:prstGeom prst="rect">
            <a:avLst/>
          </a:prstGeom>
          <a:noFill/>
        </p:spPr>
        <p:txBody>
          <a:bodyPr wrap="square" anchor="t" lIns="0" rIns="0" tIns="0" bIns="0">
            <a:spAutoFit/>
          </a:bodyPr>
          <a:lstStyle/>
          <a:p>
            <a:pPr algn="r">
              <a:spcAft>
                <a:spcPts val="400"/>
              </a:spcAft>
            </a:pPr>
            <a:r>
              <a:rPr sz="900" b="0" i="0">
                <a:solidFill>
                  <a:srgbClr val="95A5A6"/>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spcAft>
                <a:spcPts val="400"/>
              </a:spcAft>
            </a:pPr>
            <a:r>
              <a:rPr sz="1200" b="1" i="0">
                <a:solidFill>
                  <a:srgbClr val="F39C12"/>
                </a:solidFill>
                <a:latin typeface="Calibri"/>
              </a:rPr>
              <a:t>RECOMMENDATIONS</a:t>
            </a:r>
          </a:p>
        </p:txBody>
      </p:sp>
      <p:sp>
        <p:nvSpPr>
          <p:cNvPr id="4" name="TextBox 3"/>
          <p:cNvSpPr txBox="1"/>
          <p:nvPr/>
        </p:nvSpPr>
        <p:spPr>
          <a:xfrm>
            <a:off x="548640" y="777240"/>
            <a:ext cx="11064240" cy="914400"/>
          </a:xfrm>
          <a:prstGeom prst="rect">
            <a:avLst/>
          </a:prstGeom>
          <a:noFill/>
        </p:spPr>
        <p:txBody>
          <a:bodyPr wrap="square" anchor="t" lIns="0" rIns="0" tIns="0" bIns="0">
            <a:spAutoFit/>
          </a:bodyPr>
          <a:lstStyle/>
          <a:p>
            <a:pPr algn="l">
              <a:spcAft>
                <a:spcPts val="400"/>
              </a:spcAft>
            </a:pPr>
            <a:r>
              <a:rPr sz="3200" b="1" i="0">
                <a:solidFill>
                  <a:srgbClr val="2C3E50"/>
                </a:solidFill>
                <a:latin typeface="Cambria"/>
              </a:rPr>
              <a:t>Who Should NY Racing Pursue?</a:t>
            </a:r>
          </a:p>
        </p:txBody>
      </p:sp>
      <p:sp>
        <p:nvSpPr>
          <p:cNvPr id="5" name="Rounded Rectangle 4"/>
          <p:cNvSpPr/>
          <p:nvPr/>
        </p:nvSpPr>
        <p:spPr>
          <a:xfrm>
            <a:off x="685800" y="2148840"/>
            <a:ext cx="5394960" cy="3749039"/>
          </a:xfrm>
          <a:prstGeom prst="roundRect">
            <a:avLst>
              <a:gd name="adj" fmla="val 9000"/>
            </a:avLst>
          </a:prstGeom>
          <a:solidFill>
            <a:srgbClr val="FDF0DC"/>
          </a:solidFill>
          <a:ln w="15875">
            <a:solidFill>
              <a:srgbClr val="F39C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23160"/>
            <a:ext cx="4800600" cy="3200400"/>
          </a:xfrm>
          <a:prstGeom prst="rect">
            <a:avLst/>
          </a:prstGeom>
          <a:noFill/>
        </p:spPr>
        <p:txBody>
          <a:bodyPr wrap="square" anchor="t" lIns="0" rIns="0" tIns="0" bIns="0">
            <a:spAutoFit/>
          </a:bodyPr>
          <a:lstStyle/>
          <a:p>
            <a:pPr algn="l">
              <a:spcAft>
                <a:spcPts val="800"/>
              </a:spcAft>
            </a:pPr>
            <a:r>
              <a:rPr sz="2200" b="1" i="0">
                <a:solidFill>
                  <a:srgbClr val="2C3E50"/>
                </a:solidFill>
                <a:latin typeface="Cambria"/>
              </a:rPr>
              <a:t>PRIMARY: FedEx</a:t>
            </a:r>
          </a:p>
          <a:p>
            <a:pPr algn="l">
              <a:spcAft>
                <a:spcPts val="600"/>
              </a:spcAft>
            </a:pPr>
            <a:r>
              <a:rPr sz="1600" b="0" i="0">
                <a:solidFill>
                  <a:srgbClr val="222A30"/>
                </a:solidFill>
                <a:latin typeface="Calibri"/>
              </a:rPr>
              <a:t>•  Visibility: 1,215 points (Rank #2)</a:t>
            </a:r>
          </a:p>
          <a:p>
            <a:pPr algn="l">
              <a:spcAft>
                <a:spcPts val="600"/>
              </a:spcAft>
            </a:pPr>
            <a:r>
              <a:rPr sz="1600" b="0" i="0">
                <a:solidFill>
                  <a:srgbClr val="222A30"/>
                </a:solidFill>
                <a:latin typeface="Calibri"/>
              </a:rPr>
              <a:t>•  Efficiency: 65.7 pts/$M (Rank #2)</a:t>
            </a:r>
          </a:p>
          <a:p>
            <a:pPr algn="l">
              <a:spcAft>
                <a:spcPts val="600"/>
              </a:spcAft>
            </a:pPr>
            <a:r>
              <a:rPr sz="1600" b="0" i="0">
                <a:solidFill>
                  <a:srgbClr val="222A30"/>
                </a:solidFill>
                <a:latin typeface="Calibri"/>
              </a:rPr>
              <a:t>•  Estimated cost: $18.5M</a:t>
            </a:r>
          </a:p>
          <a:p>
            <a:pPr algn="l">
              <a:spcAft>
                <a:spcPts val="600"/>
              </a:spcAft>
            </a:pPr>
            <a:r>
              <a:rPr sz="1600" b="0" i="0">
                <a:solidFill>
                  <a:srgbClr val="222A30"/>
                </a:solidFill>
                <a:latin typeface="Calibri"/>
              </a:rPr>
              <a:t>•  Most wins (3) of any tracked sponsor</a:t>
            </a:r>
          </a:p>
          <a:p>
            <a:pPr algn="l">
              <a:spcAft>
                <a:spcPts val="400"/>
              </a:spcAft>
            </a:pPr>
            <a:r>
              <a:rPr sz="1500" b="0" i="1">
                <a:solidFill>
                  <a:srgbClr val="5A6B73"/>
                </a:solidFill>
                <a:latin typeface="Calibri"/>
              </a:rPr>
              <a:t>Why: near-max exposure at a better price than the top-visibility option.</a:t>
            </a:r>
          </a:p>
        </p:txBody>
      </p:sp>
      <p:sp>
        <p:nvSpPr>
          <p:cNvPr id="7" name="Rounded Rectangle 6"/>
          <p:cNvSpPr/>
          <p:nvPr/>
        </p:nvSpPr>
        <p:spPr>
          <a:xfrm>
            <a:off x="6309360" y="2148840"/>
            <a:ext cx="5257800" cy="1783080"/>
          </a:xfrm>
          <a:prstGeom prst="roundRect">
            <a:avLst>
              <a:gd name="adj" fmla="val 9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377440"/>
            <a:ext cx="4709160" cy="1371600"/>
          </a:xfrm>
          <a:prstGeom prst="rect">
            <a:avLst/>
          </a:prstGeom>
          <a:noFill/>
        </p:spPr>
        <p:txBody>
          <a:bodyPr wrap="square" anchor="t" lIns="0" rIns="0" tIns="0" bIns="0">
            <a:spAutoFit/>
          </a:bodyPr>
          <a:lstStyle/>
          <a:p>
            <a:pPr algn="l">
              <a:spcAft>
                <a:spcPts val="400"/>
              </a:spcAft>
            </a:pPr>
            <a:r>
              <a:rPr sz="1600" b="1" i="0">
                <a:solidFill>
                  <a:srgbClr val="27AE60"/>
                </a:solidFill>
                <a:latin typeface="Calibri"/>
              </a:rPr>
              <a:t>ALTERNATIVE: Love's Travel Stops (Value)</a:t>
            </a:r>
          </a:p>
          <a:p>
            <a:pPr algn="l">
              <a:spcAft>
                <a:spcPts val="400"/>
              </a:spcAft>
            </a:pPr>
            <a:r>
              <a:rPr sz="1400" b="0" i="0">
                <a:solidFill>
                  <a:srgbClr val="222A30"/>
                </a:solidFill>
                <a:latin typeface="Calibri"/>
              </a:rPr>
              <a:t>Best value per dollar (82 pts/$M) at the lowest cost ($8.5M). Choose it when budget or ROI justification is the priority.</a:t>
            </a:r>
          </a:p>
        </p:txBody>
      </p:sp>
      <p:sp>
        <p:nvSpPr>
          <p:cNvPr id="9" name="Rounded Rectangle 8"/>
          <p:cNvSpPr/>
          <p:nvPr/>
        </p:nvSpPr>
        <p:spPr>
          <a:xfrm>
            <a:off x="6309360" y="4114800"/>
            <a:ext cx="5257800" cy="1783080"/>
          </a:xfrm>
          <a:prstGeom prst="roundRect">
            <a:avLst>
              <a:gd name="adj" fmla="val 9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4343400"/>
            <a:ext cx="4709160" cy="1371600"/>
          </a:xfrm>
          <a:prstGeom prst="rect">
            <a:avLst/>
          </a:prstGeom>
          <a:noFill/>
        </p:spPr>
        <p:txBody>
          <a:bodyPr wrap="square" anchor="t" lIns="0" rIns="0" tIns="0" bIns="0">
            <a:spAutoFit/>
          </a:bodyPr>
          <a:lstStyle/>
          <a:p>
            <a:pPr algn="l">
              <a:spcAft>
                <a:spcPts val="400"/>
              </a:spcAft>
            </a:pPr>
            <a:r>
              <a:rPr sz="1600" b="1" i="0">
                <a:solidFill>
                  <a:srgbClr val="2C3E50"/>
                </a:solidFill>
                <a:latin typeface="Calibri"/>
              </a:rPr>
              <a:t>ALTERNATIVE: NAPA Auto Parts (Premium)</a:t>
            </a:r>
          </a:p>
          <a:p>
            <a:pPr algn="l">
              <a:spcAft>
                <a:spcPts val="400"/>
              </a:spcAft>
            </a:pPr>
            <a:r>
              <a:rPr sz="1400" b="0" i="0">
                <a:solidFill>
                  <a:srgbClr val="222A30"/>
                </a:solidFill>
                <a:latin typeface="Calibri"/>
              </a:rPr>
              <a:t>Maximum total exposure (1,219 points) if brand awareness outweighs cost. The highest investment at $21.5M.</a:t>
            </a:r>
          </a:p>
        </p:txBody>
      </p:sp>
      <p:sp>
        <p:nvSpPr>
          <p:cNvPr id="11" name="TextBox 10"/>
          <p:cNvSpPr txBox="1"/>
          <p:nvPr/>
        </p:nvSpPr>
        <p:spPr>
          <a:xfrm>
            <a:off x="502920" y="6419088"/>
            <a:ext cx="7315200" cy="320040"/>
          </a:xfrm>
          <a:prstGeom prst="rect">
            <a:avLst/>
          </a:prstGeom>
          <a:noFill/>
        </p:spPr>
        <p:txBody>
          <a:bodyPr wrap="square" anchor="t" lIns="0" rIns="0" tIns="0" bIns="0">
            <a:spAutoFit/>
          </a:bodyPr>
          <a:lstStyle/>
          <a:p>
            <a:pPr algn="l">
              <a:spcAft>
                <a:spcPts val="400"/>
              </a:spcAft>
            </a:pPr>
            <a:r>
              <a:rPr sz="900" b="0" i="0">
                <a:solidFill>
                  <a:srgbClr val="95A5A6"/>
                </a:solidFill>
                <a:latin typeface="Calibri"/>
              </a:rPr>
              <a:t>NASCAR Sponsorship ROI Analysis  |  NY Racing</a:t>
            </a:r>
          </a:p>
        </p:txBody>
      </p:sp>
      <p:sp>
        <p:nvSpPr>
          <p:cNvPr id="12" name="TextBox 11"/>
          <p:cNvSpPr txBox="1"/>
          <p:nvPr/>
        </p:nvSpPr>
        <p:spPr>
          <a:xfrm>
            <a:off x="10972800" y="6419088"/>
            <a:ext cx="822960" cy="320040"/>
          </a:xfrm>
          <a:prstGeom prst="rect">
            <a:avLst/>
          </a:prstGeom>
          <a:noFill/>
        </p:spPr>
        <p:txBody>
          <a:bodyPr wrap="square" anchor="t" lIns="0" rIns="0" tIns="0" bIns="0">
            <a:spAutoFit/>
          </a:bodyPr>
          <a:lstStyle/>
          <a:p>
            <a:pPr algn="r">
              <a:spcAft>
                <a:spcPts val="400"/>
              </a:spcAft>
            </a:pPr>
            <a:r>
              <a:rPr sz="900" b="0" i="0">
                <a:solidFill>
                  <a:srgbClr val="95A5A6"/>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spcAft>
                <a:spcPts val="400"/>
              </a:spcAft>
            </a:pPr>
            <a:r>
              <a:rPr sz="1200" b="1" i="0">
                <a:solidFill>
                  <a:srgbClr val="F39C12"/>
                </a:solidFill>
                <a:latin typeface="Calibri"/>
              </a:rPr>
              <a:t>THE DECISION</a:t>
            </a:r>
          </a:p>
        </p:txBody>
      </p:sp>
      <p:sp>
        <p:nvSpPr>
          <p:cNvPr id="4" name="TextBox 3"/>
          <p:cNvSpPr txBox="1"/>
          <p:nvPr/>
        </p:nvSpPr>
        <p:spPr>
          <a:xfrm>
            <a:off x="548640" y="777240"/>
            <a:ext cx="11064240" cy="914400"/>
          </a:xfrm>
          <a:prstGeom prst="rect">
            <a:avLst/>
          </a:prstGeom>
          <a:noFill/>
        </p:spPr>
        <p:txBody>
          <a:bodyPr wrap="square" anchor="t" lIns="0" rIns="0" tIns="0" bIns="0">
            <a:spAutoFit/>
          </a:bodyPr>
          <a:lstStyle/>
          <a:p>
            <a:pPr algn="l">
              <a:spcAft>
                <a:spcPts val="400"/>
              </a:spcAft>
            </a:pPr>
            <a:r>
              <a:rPr sz="3200" b="1" i="0">
                <a:solidFill>
                  <a:srgbClr val="2C3E50"/>
                </a:solidFill>
                <a:latin typeface="Cambria"/>
              </a:rPr>
              <a:t>Choosing Your Strategy</a:t>
            </a:r>
          </a:p>
        </p:txBody>
      </p:sp>
      <p:pic>
        <p:nvPicPr>
          <p:cNvPr id="5" name="Picture 4" descr="scenario_comparison.png"/>
          <p:cNvPicPr>
            <a:picLocks noChangeAspect="1"/>
          </p:cNvPicPr>
          <p:nvPr/>
        </p:nvPicPr>
        <p:blipFill>
          <a:blip r:embed="rId2"/>
          <a:stretch>
            <a:fillRect/>
          </a:stretch>
        </p:blipFill>
        <p:spPr>
          <a:xfrm>
            <a:off x="640080" y="2103120"/>
            <a:ext cx="6766560" cy="2863774"/>
          </a:xfrm>
          <a:prstGeom prst="rect">
            <a:avLst/>
          </a:prstGeom>
        </p:spPr>
      </p:pic>
      <p:graphicFrame>
        <p:nvGraphicFramePr>
          <p:cNvPr id="6" name="Table 5"/>
          <p:cNvGraphicFramePr>
            <a:graphicFrameLocks noGrp="1"/>
          </p:cNvGraphicFramePr>
          <p:nvPr/>
        </p:nvGraphicFramePr>
        <p:xfrm>
          <a:off x="7635240" y="2331720"/>
          <a:ext cx="3931920" cy="2011680"/>
        </p:xfrm>
        <a:graphic>
          <a:graphicData uri="http://schemas.openxmlformats.org/drawingml/2006/table">
            <a:tbl>
              <a:tblPr firstRow="1" bandRow="1">
                <a:tableStyleId>{5C22544A-7EE6-4342-B048-85BDC9FD1C3A}</a:tableStyleId>
              </a:tblPr>
              <a:tblGrid>
                <a:gridCol w="1737360"/>
                <a:gridCol w="1188720"/>
                <a:gridCol w="1005840"/>
              </a:tblGrid>
              <a:tr h="502920">
                <a:tc>
                  <a:txBody>
                    <a:bodyPr/>
                    <a:lstStyle/>
                    <a:p>
                      <a:pPr algn="l">
                        <a:spcAft>
                          <a:spcPts val="400"/>
                        </a:spcAft>
                      </a:pPr>
                      <a:r>
                        <a:rPr sz="1250" b="1" i="0">
                          <a:solidFill>
                            <a:srgbClr val="FFFFFF"/>
                          </a:solidFill>
                          <a:latin typeface="Calibri"/>
                        </a:rPr>
                        <a:t>Strategy</a:t>
                      </a:r>
                    </a:p>
                  </a:txBody>
                  <a:tcPr>
                    <a:solidFill>
                      <a:srgbClr val="2C3E50"/>
                    </a:solidFill>
                  </a:tcPr>
                </a:tc>
                <a:tc>
                  <a:txBody>
                    <a:bodyPr/>
                    <a:lstStyle/>
                    <a:p>
                      <a:pPr algn="l">
                        <a:spcAft>
                          <a:spcPts val="400"/>
                        </a:spcAft>
                      </a:pPr>
                      <a:r>
                        <a:rPr sz="1250" b="1" i="0">
                          <a:solidFill>
                            <a:srgbClr val="FFFFFF"/>
                          </a:solidFill>
                          <a:latin typeface="Calibri"/>
                        </a:rPr>
                        <a:t>Sponsor</a:t>
                      </a:r>
                    </a:p>
                  </a:txBody>
                  <a:tcPr>
                    <a:solidFill>
                      <a:srgbClr val="2C3E50"/>
                    </a:solidFill>
                  </a:tcPr>
                </a:tc>
                <a:tc>
                  <a:txBody>
                    <a:bodyPr/>
                    <a:lstStyle/>
                    <a:p>
                      <a:pPr algn="l">
                        <a:spcAft>
                          <a:spcPts val="400"/>
                        </a:spcAft>
                      </a:pPr>
                      <a:r>
                        <a:rPr sz="1250" b="1" i="0">
                          <a:solidFill>
                            <a:srgbClr val="FFFFFF"/>
                          </a:solidFill>
                          <a:latin typeface="Calibri"/>
                        </a:rPr>
                        <a:t>Cost</a:t>
                      </a:r>
                    </a:p>
                  </a:txBody>
                  <a:tcPr>
                    <a:solidFill>
                      <a:srgbClr val="2C3E50"/>
                    </a:solidFill>
                  </a:tcPr>
                </a:tc>
              </a:tr>
              <a:tr h="502920">
                <a:tc>
                  <a:txBody>
                    <a:bodyPr/>
                    <a:lstStyle/>
                    <a:p>
                      <a:pPr algn="l">
                        <a:spcAft>
                          <a:spcPts val="400"/>
                        </a:spcAft>
                      </a:pPr>
                      <a:r>
                        <a:rPr sz="1250" b="0" i="0">
                          <a:solidFill>
                            <a:srgbClr val="222A30"/>
                          </a:solidFill>
                          <a:latin typeface="Calibri"/>
                        </a:rPr>
                        <a:t>Max Visibility</a:t>
                      </a:r>
                    </a:p>
                  </a:txBody>
                  <a:tcPr>
                    <a:solidFill>
                      <a:srgbClr val="FFFFFF"/>
                    </a:solidFill>
                  </a:tcPr>
                </a:tc>
                <a:tc>
                  <a:txBody>
                    <a:bodyPr/>
                    <a:lstStyle/>
                    <a:p>
                      <a:pPr algn="l">
                        <a:spcAft>
                          <a:spcPts val="400"/>
                        </a:spcAft>
                      </a:pPr>
                      <a:r>
                        <a:rPr sz="1250" b="0" i="0">
                          <a:solidFill>
                            <a:srgbClr val="222A30"/>
                          </a:solidFill>
                          <a:latin typeface="Calibri"/>
                        </a:rPr>
                        <a:t>NAPA</a:t>
                      </a:r>
                    </a:p>
                  </a:txBody>
                  <a:tcPr>
                    <a:solidFill>
                      <a:srgbClr val="FFFFFF"/>
                    </a:solidFill>
                  </a:tcPr>
                </a:tc>
                <a:tc>
                  <a:txBody>
                    <a:bodyPr/>
                    <a:lstStyle/>
                    <a:p>
                      <a:pPr algn="l">
                        <a:spcAft>
                          <a:spcPts val="400"/>
                        </a:spcAft>
                      </a:pPr>
                      <a:r>
                        <a:rPr sz="1250" b="0" i="0">
                          <a:solidFill>
                            <a:srgbClr val="222A30"/>
                          </a:solidFill>
                          <a:latin typeface="Calibri"/>
                        </a:rPr>
                        <a:t>$21.5M</a:t>
                      </a:r>
                    </a:p>
                  </a:txBody>
                  <a:tcPr>
                    <a:solidFill>
                      <a:srgbClr val="FFFFFF"/>
                    </a:solidFill>
                  </a:tcPr>
                </a:tc>
              </a:tr>
              <a:tr h="502920">
                <a:tc>
                  <a:txBody>
                    <a:bodyPr/>
                    <a:lstStyle/>
                    <a:p>
                      <a:pPr algn="l">
                        <a:spcAft>
                          <a:spcPts val="400"/>
                        </a:spcAft>
                      </a:pPr>
                      <a:r>
                        <a:rPr sz="1250" b="0" i="0">
                          <a:solidFill>
                            <a:srgbClr val="222A30"/>
                          </a:solidFill>
                          <a:latin typeface="Calibri"/>
                        </a:rPr>
                        <a:t>Max Efficiency</a:t>
                      </a:r>
                    </a:p>
                  </a:txBody>
                  <a:tcPr>
                    <a:solidFill>
                      <a:srgbClr val="F4F6F7"/>
                    </a:solidFill>
                  </a:tcPr>
                </a:tc>
                <a:tc>
                  <a:txBody>
                    <a:bodyPr/>
                    <a:lstStyle/>
                    <a:p>
                      <a:pPr algn="l">
                        <a:spcAft>
                          <a:spcPts val="400"/>
                        </a:spcAft>
                      </a:pPr>
                      <a:r>
                        <a:rPr sz="1250" b="0" i="0">
                          <a:solidFill>
                            <a:srgbClr val="222A30"/>
                          </a:solidFill>
                          <a:latin typeface="Calibri"/>
                        </a:rPr>
                        <a:t>Love's</a:t>
                      </a:r>
                    </a:p>
                  </a:txBody>
                  <a:tcPr>
                    <a:solidFill>
                      <a:srgbClr val="F4F6F7"/>
                    </a:solidFill>
                  </a:tcPr>
                </a:tc>
                <a:tc>
                  <a:txBody>
                    <a:bodyPr/>
                    <a:lstStyle/>
                    <a:p>
                      <a:pPr algn="l">
                        <a:spcAft>
                          <a:spcPts val="400"/>
                        </a:spcAft>
                      </a:pPr>
                      <a:r>
                        <a:rPr sz="1250" b="0" i="0">
                          <a:solidFill>
                            <a:srgbClr val="222A30"/>
                          </a:solidFill>
                          <a:latin typeface="Calibri"/>
                        </a:rPr>
                        <a:t>$8.5M</a:t>
                      </a:r>
                    </a:p>
                  </a:txBody>
                  <a:tcPr>
                    <a:solidFill>
                      <a:srgbClr val="F4F6F7"/>
                    </a:solidFill>
                  </a:tcPr>
                </a:tc>
              </a:tr>
              <a:tr h="502920">
                <a:tc>
                  <a:txBody>
                    <a:bodyPr/>
                    <a:lstStyle/>
                    <a:p>
                      <a:pPr algn="l">
                        <a:spcAft>
                          <a:spcPts val="400"/>
                        </a:spcAft>
                      </a:pPr>
                      <a:r>
                        <a:rPr sz="1250" b="1" i="0">
                          <a:solidFill>
                            <a:srgbClr val="222A30"/>
                          </a:solidFill>
                          <a:latin typeface="Calibri"/>
                        </a:rPr>
                        <a:t>Balanced</a:t>
                      </a:r>
                    </a:p>
                  </a:txBody>
                  <a:tcPr>
                    <a:solidFill>
                      <a:srgbClr val="FDF0DC"/>
                    </a:solidFill>
                  </a:tcPr>
                </a:tc>
                <a:tc>
                  <a:txBody>
                    <a:bodyPr/>
                    <a:lstStyle/>
                    <a:p>
                      <a:pPr algn="l">
                        <a:spcAft>
                          <a:spcPts val="400"/>
                        </a:spcAft>
                      </a:pPr>
                      <a:r>
                        <a:rPr sz="1250" b="1" i="0">
                          <a:solidFill>
                            <a:srgbClr val="222A30"/>
                          </a:solidFill>
                          <a:latin typeface="Calibri"/>
                        </a:rPr>
                        <a:t>FedEx</a:t>
                      </a:r>
                    </a:p>
                  </a:txBody>
                  <a:tcPr>
                    <a:solidFill>
                      <a:srgbClr val="FDF0DC"/>
                    </a:solidFill>
                  </a:tcPr>
                </a:tc>
                <a:tc>
                  <a:txBody>
                    <a:bodyPr/>
                    <a:lstStyle/>
                    <a:p>
                      <a:pPr algn="l">
                        <a:spcAft>
                          <a:spcPts val="400"/>
                        </a:spcAft>
                      </a:pPr>
                      <a:r>
                        <a:rPr sz="1250" b="1" i="0">
                          <a:solidFill>
                            <a:srgbClr val="222A30"/>
                          </a:solidFill>
                          <a:latin typeface="Calibri"/>
                        </a:rPr>
                        <a:t>$18.5M</a:t>
                      </a:r>
                    </a:p>
                  </a:txBody>
                  <a:tcPr>
                    <a:solidFill>
                      <a:srgbClr val="FDF0DC"/>
                    </a:solidFill>
                  </a:tcPr>
                </a:tc>
              </a:tr>
            </a:tbl>
          </a:graphicData>
        </a:graphic>
      </p:graphicFrame>
      <p:sp>
        <p:nvSpPr>
          <p:cNvPr id="7" name="TextBox 6"/>
          <p:cNvSpPr txBox="1"/>
          <p:nvPr/>
        </p:nvSpPr>
        <p:spPr>
          <a:xfrm>
            <a:off x="7635240" y="4617720"/>
            <a:ext cx="3977639" cy="1188720"/>
          </a:xfrm>
          <a:prstGeom prst="rect">
            <a:avLst/>
          </a:prstGeom>
          <a:noFill/>
        </p:spPr>
        <p:txBody>
          <a:bodyPr wrap="square" anchor="t" lIns="0" rIns="0" tIns="0" bIns="0">
            <a:spAutoFit/>
          </a:bodyPr>
          <a:lstStyle/>
          <a:p>
            <a:pPr algn="l">
              <a:spcAft>
                <a:spcPts val="300"/>
              </a:spcAft>
            </a:pPr>
            <a:r>
              <a:rPr sz="1500" b="1" i="0">
                <a:solidFill>
                  <a:srgbClr val="2C3E50"/>
                </a:solidFill>
                <a:latin typeface="Calibri"/>
              </a:rPr>
              <a:t>Question for NY Racing:</a:t>
            </a:r>
          </a:p>
          <a:p>
            <a:pPr algn="l">
              <a:spcAft>
                <a:spcPts val="400"/>
              </a:spcAft>
            </a:pPr>
            <a:r>
              <a:rPr sz="1500" b="0" i="1">
                <a:solidFill>
                  <a:srgbClr val="5A6B73"/>
                </a:solidFill>
                <a:latin typeface="Calibri"/>
              </a:rPr>
              <a:t>Which priority fits your strategic goals - maximum exposure, best value, or balance?</a:t>
            </a:r>
          </a:p>
        </p:txBody>
      </p:sp>
      <p:sp>
        <p:nvSpPr>
          <p:cNvPr id="8" name="TextBox 7"/>
          <p:cNvSpPr txBox="1"/>
          <p:nvPr/>
        </p:nvSpPr>
        <p:spPr>
          <a:xfrm>
            <a:off x="502920" y="6419088"/>
            <a:ext cx="7315200" cy="320040"/>
          </a:xfrm>
          <a:prstGeom prst="rect">
            <a:avLst/>
          </a:prstGeom>
          <a:noFill/>
        </p:spPr>
        <p:txBody>
          <a:bodyPr wrap="square" anchor="t" lIns="0" rIns="0" tIns="0" bIns="0">
            <a:spAutoFit/>
          </a:bodyPr>
          <a:lstStyle/>
          <a:p>
            <a:pPr algn="l">
              <a:spcAft>
                <a:spcPts val="400"/>
              </a:spcAft>
            </a:pPr>
            <a:r>
              <a:rPr sz="900" b="0" i="0">
                <a:solidFill>
                  <a:srgbClr val="95A5A6"/>
                </a:solidFill>
                <a:latin typeface="Calibri"/>
              </a:rPr>
              <a:t>NASCAR Sponsorship ROI Analysis  |  NY Racing</a:t>
            </a:r>
          </a:p>
        </p:txBody>
      </p:sp>
      <p:sp>
        <p:nvSpPr>
          <p:cNvPr id="9" name="TextBox 8"/>
          <p:cNvSpPr txBox="1"/>
          <p:nvPr/>
        </p:nvSpPr>
        <p:spPr>
          <a:xfrm>
            <a:off x="10972800" y="6419088"/>
            <a:ext cx="822960" cy="320040"/>
          </a:xfrm>
          <a:prstGeom prst="rect">
            <a:avLst/>
          </a:prstGeom>
          <a:noFill/>
        </p:spPr>
        <p:txBody>
          <a:bodyPr wrap="square" anchor="t" lIns="0" rIns="0" tIns="0" bIns="0">
            <a:spAutoFit/>
          </a:bodyPr>
          <a:lstStyle/>
          <a:p>
            <a:pPr algn="r">
              <a:spcAft>
                <a:spcPts val="400"/>
              </a:spcAft>
            </a:pPr>
            <a:r>
              <a:rPr sz="900" b="0" i="0">
                <a:solidFill>
                  <a:srgbClr val="95A5A6"/>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85800"/>
            <a:ext cx="10515600" cy="822960"/>
          </a:xfrm>
          <a:prstGeom prst="rect">
            <a:avLst/>
          </a:prstGeom>
          <a:noFill/>
        </p:spPr>
        <p:txBody>
          <a:bodyPr wrap="square" anchor="t" lIns="0" rIns="0" tIns="0" bIns="0">
            <a:spAutoFit/>
          </a:bodyPr>
          <a:lstStyle/>
          <a:p>
            <a:pPr algn="l">
              <a:spcAft>
                <a:spcPts val="400"/>
              </a:spcAft>
            </a:pPr>
            <a:r>
              <a:rPr sz="3400" b="1" i="0">
                <a:solidFill>
                  <a:srgbClr val="FFFFFF"/>
                </a:solidFill>
                <a:latin typeface="Cambria"/>
              </a:rPr>
              <a:t>Recommended Next Steps</a:t>
            </a:r>
          </a:p>
        </p:txBody>
      </p:sp>
      <p:sp>
        <p:nvSpPr>
          <p:cNvPr id="4" name="Oval 3"/>
          <p:cNvSpPr/>
          <p:nvPr/>
        </p:nvSpPr>
        <p:spPr>
          <a:xfrm>
            <a:off x="822960" y="1920240"/>
            <a:ext cx="566928" cy="566928"/>
          </a:xfrm>
          <a:prstGeom prst="ellipse">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Aft>
                <a:spcPts val="400"/>
              </a:spcAft>
            </a:pPr>
            <a:r>
              <a:rPr sz="2200" b="1" i="0">
                <a:solidFill>
                  <a:srgbClr val="2C3E50"/>
                </a:solidFill>
                <a:latin typeface="Cambria"/>
              </a:rPr>
              <a:t>1</a:t>
            </a:r>
          </a:p>
        </p:txBody>
      </p:sp>
      <p:sp>
        <p:nvSpPr>
          <p:cNvPr id="5" name="TextBox 4"/>
          <p:cNvSpPr txBox="1"/>
          <p:nvPr/>
        </p:nvSpPr>
        <p:spPr>
          <a:xfrm>
            <a:off x="1600200" y="1901952"/>
            <a:ext cx="9601200" cy="777240"/>
          </a:xfrm>
          <a:prstGeom prst="rect">
            <a:avLst/>
          </a:prstGeom>
          <a:noFill/>
        </p:spPr>
        <p:txBody>
          <a:bodyPr wrap="square" anchor="t" lIns="0" rIns="0" tIns="0" bIns="0">
            <a:spAutoFit/>
          </a:bodyPr>
          <a:lstStyle/>
          <a:p>
            <a:pPr algn="l">
              <a:spcAft>
                <a:spcPts val="100"/>
              </a:spcAft>
            </a:pPr>
            <a:r>
              <a:rPr sz="1800" b="1" i="0">
                <a:solidFill>
                  <a:srgbClr val="F39C12"/>
                </a:solidFill>
                <a:latin typeface="Calibri"/>
              </a:rPr>
              <a:t>Immediate</a:t>
            </a:r>
          </a:p>
          <a:p>
            <a:pPr algn="l">
              <a:spcAft>
                <a:spcPts val="400"/>
              </a:spcAft>
            </a:pPr>
            <a:r>
              <a:rPr sz="1500" b="0" i="0">
                <a:solidFill>
                  <a:srgbClr val="CADCFC"/>
                </a:solidFill>
                <a:latin typeface="Calibri"/>
              </a:rPr>
              <a:t>Validate cost estimates with direct team and sponsor conversations</a:t>
            </a:r>
          </a:p>
        </p:txBody>
      </p:sp>
      <p:sp>
        <p:nvSpPr>
          <p:cNvPr id="6" name="Oval 5"/>
          <p:cNvSpPr/>
          <p:nvPr/>
        </p:nvSpPr>
        <p:spPr>
          <a:xfrm>
            <a:off x="822960" y="2971800"/>
            <a:ext cx="566928" cy="566928"/>
          </a:xfrm>
          <a:prstGeom prst="ellipse">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Aft>
                <a:spcPts val="400"/>
              </a:spcAft>
            </a:pPr>
            <a:r>
              <a:rPr sz="2200" b="1" i="0">
                <a:solidFill>
                  <a:srgbClr val="2C3E50"/>
                </a:solidFill>
                <a:latin typeface="Cambria"/>
              </a:rPr>
              <a:t>2</a:t>
            </a:r>
          </a:p>
        </p:txBody>
      </p:sp>
      <p:sp>
        <p:nvSpPr>
          <p:cNvPr id="7" name="TextBox 6"/>
          <p:cNvSpPr txBox="1"/>
          <p:nvPr/>
        </p:nvSpPr>
        <p:spPr>
          <a:xfrm>
            <a:off x="1600200" y="2953512"/>
            <a:ext cx="9601200" cy="777240"/>
          </a:xfrm>
          <a:prstGeom prst="rect">
            <a:avLst/>
          </a:prstGeom>
          <a:noFill/>
        </p:spPr>
        <p:txBody>
          <a:bodyPr wrap="square" anchor="t" lIns="0" rIns="0" tIns="0" bIns="0">
            <a:spAutoFit/>
          </a:bodyPr>
          <a:lstStyle/>
          <a:p>
            <a:pPr algn="l">
              <a:spcAft>
                <a:spcPts val="100"/>
              </a:spcAft>
            </a:pPr>
            <a:r>
              <a:rPr sz="1800" b="1" i="0">
                <a:solidFill>
                  <a:srgbClr val="F39C12"/>
                </a:solidFill>
                <a:latin typeface="Calibri"/>
              </a:rPr>
              <a:t>This quarter</a:t>
            </a:r>
          </a:p>
          <a:p>
            <a:pPr algn="l">
              <a:spcAft>
                <a:spcPts val="400"/>
              </a:spcAft>
            </a:pPr>
            <a:r>
              <a:rPr sz="1500" b="0" i="0">
                <a:solidFill>
                  <a:srgbClr val="CADCFC"/>
                </a:solidFill>
                <a:latin typeface="Calibri"/>
              </a:rPr>
              <a:t>Analyze 2-3 additional seasons to confirm pattern stability</a:t>
            </a:r>
          </a:p>
        </p:txBody>
      </p:sp>
      <p:sp>
        <p:nvSpPr>
          <p:cNvPr id="8" name="Oval 7"/>
          <p:cNvSpPr/>
          <p:nvPr/>
        </p:nvSpPr>
        <p:spPr>
          <a:xfrm>
            <a:off x="822960" y="4023360"/>
            <a:ext cx="566928" cy="566928"/>
          </a:xfrm>
          <a:prstGeom prst="ellipse">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Aft>
                <a:spcPts val="400"/>
              </a:spcAft>
            </a:pPr>
            <a:r>
              <a:rPr sz="2200" b="1" i="0">
                <a:solidFill>
                  <a:srgbClr val="2C3E50"/>
                </a:solidFill>
                <a:latin typeface="Cambria"/>
              </a:rPr>
              <a:t>3</a:t>
            </a:r>
          </a:p>
        </p:txBody>
      </p:sp>
      <p:sp>
        <p:nvSpPr>
          <p:cNvPr id="9" name="TextBox 8"/>
          <p:cNvSpPr txBox="1"/>
          <p:nvPr/>
        </p:nvSpPr>
        <p:spPr>
          <a:xfrm>
            <a:off x="1600200" y="4005072"/>
            <a:ext cx="9601200" cy="777240"/>
          </a:xfrm>
          <a:prstGeom prst="rect">
            <a:avLst/>
          </a:prstGeom>
          <a:noFill/>
        </p:spPr>
        <p:txBody>
          <a:bodyPr wrap="square" anchor="t" lIns="0" rIns="0" tIns="0" bIns="0">
            <a:spAutoFit/>
          </a:bodyPr>
          <a:lstStyle/>
          <a:p>
            <a:pPr algn="l">
              <a:spcAft>
                <a:spcPts val="100"/>
              </a:spcAft>
            </a:pPr>
            <a:r>
              <a:rPr sz="1800" b="1" i="0">
                <a:solidFill>
                  <a:srgbClr val="F39C12"/>
                </a:solidFill>
                <a:latin typeface="Calibri"/>
              </a:rPr>
              <a:t>Before deciding</a:t>
            </a:r>
          </a:p>
          <a:p>
            <a:pPr algn="l">
              <a:spcAft>
                <a:spcPts val="400"/>
              </a:spcAft>
            </a:pPr>
            <a:r>
              <a:rPr sz="1500" b="0" i="0">
                <a:solidFill>
                  <a:srgbClr val="CADCFC"/>
                </a:solidFill>
                <a:latin typeface="Calibri"/>
              </a:rPr>
              <a:t>Assess brand fit and activation opportunities beyond visibility</a:t>
            </a:r>
          </a:p>
        </p:txBody>
      </p:sp>
      <p:sp>
        <p:nvSpPr>
          <p:cNvPr id="10" name="TextBox 9"/>
          <p:cNvSpPr txBox="1"/>
          <p:nvPr/>
        </p:nvSpPr>
        <p:spPr>
          <a:xfrm>
            <a:off x="822960" y="5349240"/>
            <a:ext cx="10515600" cy="914400"/>
          </a:xfrm>
          <a:prstGeom prst="rect">
            <a:avLst/>
          </a:prstGeom>
          <a:noFill/>
        </p:spPr>
        <p:txBody>
          <a:bodyPr wrap="square" anchor="t" lIns="0" rIns="0" tIns="0" bIns="0">
            <a:spAutoFit/>
          </a:bodyPr>
          <a:lstStyle/>
          <a:p>
            <a:pPr algn="l">
              <a:spcAft>
                <a:spcPts val="400"/>
              </a:spcAft>
            </a:pPr>
            <a:r>
              <a:rPr sz="4000" b="1" i="0">
                <a:solidFill>
                  <a:srgbClr val="FFFFFF"/>
                </a:solidFill>
                <a:latin typeface="Cambria"/>
              </a:rPr>
              <a:t>Questions?</a:t>
            </a:r>
          </a:p>
        </p:txBody>
      </p:sp>
      <p:sp>
        <p:nvSpPr>
          <p:cNvPr id="11" name="TextBox 10"/>
          <p:cNvSpPr txBox="1"/>
          <p:nvPr/>
        </p:nvSpPr>
        <p:spPr>
          <a:xfrm>
            <a:off x="822960" y="6172200"/>
            <a:ext cx="10515600" cy="365760"/>
          </a:xfrm>
          <a:prstGeom prst="rect">
            <a:avLst/>
          </a:prstGeom>
          <a:noFill/>
        </p:spPr>
        <p:txBody>
          <a:bodyPr wrap="square" anchor="t" lIns="0" rIns="0" tIns="0" bIns="0">
            <a:spAutoFit/>
          </a:bodyPr>
          <a:lstStyle/>
          <a:p>
            <a:pPr algn="l">
              <a:spcAft>
                <a:spcPts val="400"/>
              </a:spcAft>
            </a:pPr>
            <a:r>
              <a:rPr sz="1200" b="0" i="0">
                <a:solidFill>
                  <a:srgbClr val="8A9BB5"/>
                </a:solidFill>
                <a:latin typeface="Calibri"/>
              </a:rPr>
              <a:t>Aylin Yasgul  |  NASCAR Sponsorship ROI Analysis for NY Racing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